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respected evaluators and faculty members. Welcome to our BEEE project presentation. Our project is titled 'Self-Learning Circuit Doctor: Voltage-Signature-Based Fault Detection in DC Circuits'. I am Member 1, focusing on electrical modeling and Falstad circuit simulation, and my co-presenter is Member 2, who spearheaded the Python diagnostic algorithms and graphical user interface. In this presentation, we will demonstrate how fundamental circuit laws like KCL, KVL, and Ohm's law can be combined with multi-signal signature pattern recognition to diagnose and localize 13 distinct operating conditions in DC networks with 100% precision.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electrical engineer faces circuit troubleshooting. In traditional lab or industrial environments, when a circuit fails, finding the broken component typically involves manual, repetitive multimeter probing or desoldering. Our motivation was to build an automated diagnostic assistant—a 'Circuit Doctor'. By taking just three non-invasive electrical measurements—the voltages at nodes A and B, plus total source current— we can immediately identify exactly which resistor opened, shorted, or drifted in value. This bridges foundational circuit theory with practical applied automation.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project scope is defined around six core technical objectives. First, rigorous derivation of DC equations. Second, defining 13 unique fault conditions. Third, verifying the circuit in the Falstad web simulator. Fourth, building two diagnostic methods— a baseline rule detector and a standardized nearest-centroid classifier. Fifth, evaluating how noise and component manufacturing tolerances affect accuracy. And sixth, presenting everything through an interactive, beginner-friendly graphical interface.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surveyed the electrical engineering literature on circuit fault diagnosis. Traditional single-threshold detectors fail completely when two faults produce identical node voltages— for example, both R1 Open and R2 Short produce 0V at Node A. Without measuring source current, they cannot be separated! On the other hand, complex deep neural networks are black boxes that obscure the underlying physics. Our Circuit Doctor fills this gap by providing an explainable, standardized nearest-centroid model backed by fundamental KCL and KVL principles.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illustrates our nominal DC resistor network. The circuit is powered by a 10 Volt DC supply. Current enters through R1 of 1 kOhm into Node A. From Node A, the current splits into two parallel branches: one path goes straight down through R2 (2 kOhm) to Ground, while the second path flows through R3 (1.5 kOhm) into Node B, and then down through R4 (3 kOhm) to Ground. This bridge/ladder structure is rich in electrical coupling, making it the ideal benchmark for fault detection.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show the complete derivation using Kirchhoff's Current Law. At Node A, the sum of currents leaving must equal zero. At Node B, the current flowing through R3 must equal the current flowing down through R4. Notice that VB is strictly two-thirds of VA under nominal conditions. By substituting the parallel equivalent resistance of 18/13 kilo-ohms, we solve for the exact theoretical values: Node A voltage is 5.806 Volts, Node B voltage is 3.871 Volts, and total source current is 4.194 milli-Amperes. These three numbers form our gold-standard healthy baseline.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graph displays the multi-signal electrical signatures across all 13 operating classes. Blue bars represent Node A voltage, green bars show Node B voltage, and red bars show source current in mA. Look at how distinct each fault pattern is! For F1 (R1 Open), all bars drop to zero. For F5 (R1 Short), Node A shoots up to the full 10V supply rail and source current spikes to 7.22 mA. For F6 (R2 Short), both node voltages are 0V, but the source current is 10 mA—which clearly distinguishes it from R1 Open! Even subtle 50% resistance drift faults create distinctive, repeatable shifts in the 3D signature space.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ensure our Python model mirrors reality without requiring physical hardware, we verified every scenario in the online Falstad Circuit Simulator. Falstad uses Modified Nodal Analysis (MNA), the same engine found in professional SPICE simulators. As shown in the table on the right, the simulator readings match our mathematical model exactly to within 0.00045 Volts, which is merely the rounding limit of the simulator's on-screen voltmeter. We also created a 1-click URL export so faculty can instantly open and test the circuit in any web browser.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implemented two competing diagnostic engines to demonstrate rigorous engineering methodology. Method A is a baseline rule detector using physical thresholds. Method B is a supervised machine learning classifier using the Nearest Centroid algorithm. In Method B, we strictly avoid data leakage: the means and standard deviations for standardization are computed exclusively on training data. Furthermore, we compute the separation margin between the closest and second-closest candidate centroids. If this margin is below 0.35 standardized units, the system outputs a cautious uncertainty flag rather than a reckless guess.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key requirement in our project prompt is explaining what 'Self-Learning' means. We do not make inflated claims that the model magically discovers new physics without labels. Instead, 'Self-Learning' refers to supervised incremental adaptation. Using the running average formula shown on this slide, whenever a technician submits a verified new measurement, the class centroid adjusts smoothly in real time. This allows the Circuit Doctor to adapt to real-world resistor aging and temperature shifts without having to retrain the entire dataset.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test our system rigorously, we developed a stochastic dataset generator in 'src/dataset_generator.py'. Real resistors are never exactly 1000 Ohms—they have manufacturing tolerances, typically ±5%. Power supplies drift slightly, and digital multimeters have ADC measurement noise. We incorporated all three physical phenomena into our data generator, creating 1,950 realistic synthetic samples. We then performed a stratified 80/20 train/test split, ensuring exactly 30 held-out test samples for every single class.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our actual evaluation results. The heatmap on the left shows the 13 by 13 confusion matrix on the held-out test dataset of 390 samples. Every single test case lies directly on the diagonal, demonstrating 100% precision, recall, and F1-score. Because our 3-signal signature vector captures both internal node voltages and total supply current, every fault cluster is completely separated in the standardized feature space under standard 5% component tolerances.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test how far our system can be pushed, we performed sensitivity studies. On the left, we varied sensor measurement noise from 10 millivolts up to 200 millivolts. Method B maintained exceptional accuracy across the entire range, demonstrating strong noise immunity. On the right, we increased resistor manufacturing tolerances from 1% up to 15%. Even when components deviated by up to 10%, the Nearest Centroid Classifier maintained over 98% accuracy. This proves that our diagnostic engine is robust against cheap, low-grade electronic components.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make our project accessible for demonstrations, we created two interfaces: a modern Streamlit web dashboard in 'app.py' and an offline Tkinter GUI in 'gui_tk.py'. Both interfaces are fully connected to our Python diagnostic engine. Users can inject preset faults or manually enter multimeter readings. In our live demonstration, we will show how changing values immediately updates the predicted fault, displays the separation margin, and highlights any borderline uncertainty.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spirit of honest engineering research, we highlight our system's boundaries. Our present implementation targets DC steady-state resistive networks. For future work, our mathematical framework can be readily expanded to AC circuits by adding phase angle measurements to detect capacitor and inductor degradation. Additionally, an ESP32 microcontroller with an ADC could turn this software into a physical handheld testing device for electronics manufacturing lines.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our 'Self-Learning Circuit Doctor' proves that BEEE concepts are not just theory for exams— they are the essential foundation for modern automated diagnostics and smart grid engineering. Our software is reproducible, fully tested, and ready for immediate demonstration. We thank our faculty guide and the evaluation panel for their guidance and look forward to your questions.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097280"/>
            <a:ext cx="10362895" cy="2926080"/>
          </a:xfrm>
          <a:prstGeom prst="rect">
            <a:avLst/>
          </a:prstGeom>
          <a:noFill/>
        </p:spPr>
        <p:txBody>
          <a:bodyPr wrap="square">
            <a:spAutoFit/>
          </a:bodyPr>
          <a:lstStyle/>
          <a:p>
            <a:pPr>
              <a:defRPr sz="1400" b="1">
                <a:solidFill>
                  <a:srgbClr val="3182CE"/>
                </a:solidFill>
              </a:defRPr>
            </a:pPr>
            <a:r>
              <a:t>B.TECH PROJECT (BEEE)</a:t>
            </a:r>
          </a:p>
          <a:p>
            <a:pPr>
              <a:spcBef>
                <a:spcPts val="1200"/>
              </a:spcBef>
              <a:defRPr sz="3200" b="1">
                <a:solidFill>
                  <a:srgbClr val="FFFFFF"/>
                </a:solidFill>
              </a:defRPr>
            </a:pPr>
            <a:r>
              <a:t>Self-Learning Circuit Doctor:</a:t>
            </a:r>
            <a:br/>
            <a:r>
              <a:t>Voltage-Signature-Based Fault Detection in DC Circuits</a:t>
            </a:r>
          </a:p>
          <a:p>
            <a:pPr>
              <a:spcBef>
                <a:spcPts val="800"/>
              </a:spcBef>
              <a:defRPr sz="1600">
                <a:solidFill>
                  <a:srgbClr val="E2E8F0"/>
                </a:solidFill>
              </a:defRPr>
            </a:pPr>
            <a:r>
              <a:t>Online Circuit Simulation (Falstad) &amp; Machine-Learning-Driven Diagnostic Framework</a:t>
            </a:r>
          </a:p>
        </p:txBody>
      </p:sp>
      <p:sp>
        <p:nvSpPr>
          <p:cNvPr id="4" name="Rounded Rectangle 3"/>
          <p:cNvSpPr/>
          <p:nvPr/>
        </p:nvSpPr>
        <p:spPr>
          <a:xfrm>
            <a:off x="914400" y="4389120"/>
            <a:ext cx="10362895" cy="1645920"/>
          </a:xfrm>
          <a:prstGeom prst="roundRect">
            <a:avLst/>
          </a:prstGeom>
          <a:solidFill>
            <a:srgbClr val="2C52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4480560"/>
            <a:ext cx="9966960" cy="1463040"/>
          </a:xfrm>
          <a:prstGeom prst="rect">
            <a:avLst/>
          </a:prstGeom>
          <a:noFill/>
        </p:spPr>
        <p:txBody>
          <a:bodyPr wrap="square">
            <a:spAutoFit/>
          </a:bodyPr>
          <a:lstStyle/>
          <a:p>
            <a:pPr>
              <a:defRPr sz="1100" b="1">
                <a:solidFill>
                  <a:srgbClr val="3182CE"/>
                </a:solidFill>
              </a:defRPr>
            </a:pPr>
            <a:r>
              <a:t>PROJECT TEAM (TWO-MEMBER COLLABORATION)</a:t>
            </a:r>
          </a:p>
          <a:p>
            <a:pPr>
              <a:spcBef>
                <a:spcPts val="400"/>
              </a:spcBef>
              <a:defRPr sz="1200">
                <a:solidFill>
                  <a:srgbClr val="FFFFFF"/>
                </a:solidFill>
              </a:defRPr>
            </a:pPr>
            <a:r>
              <a:t>• Student Member 1: KOTRA MANOJ KUMAR (Reg. No: 23BCE2113) — CSE (SCOPE)</a:t>
            </a:r>
            <a:br/>
            <a:r>
              <a:t>• Student Member 2: Mayank Yadav (Reg. No: 23BCE0119) — CSE (SCOPE)</a:t>
            </a:r>
            <a:br/>
            <a:r>
              <a:t>Faculty Supervisor &amp; Guide: Prof. POOMPAVAI T | School of Electrical Engineering (SELECT) | VIT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defRPr sz="1100" b="1">
                <a:solidFill>
                  <a:srgbClr val="3182CE"/>
                </a:solidFill>
              </a:defRPr>
            </a:pPr>
            <a:r>
              <a:t>B.TECH BEEE PROJECT</a:t>
            </a:r>
          </a:p>
          <a:p>
            <a:pPr>
              <a:defRPr sz="2400" b="1">
                <a:solidFill>
                  <a:srgbClr val="1A365D"/>
                </a:solidFill>
              </a:defRPr>
            </a:pPr>
            <a:r>
              <a:t>Problem Statement &amp; Engineering Motivation</a:t>
            </a:r>
          </a:p>
        </p:txBody>
      </p:sp>
      <p:sp>
        <p:nvSpPr>
          <p:cNvPr id="3" name="Rounded Rectangle 2"/>
          <p:cNvSpPr/>
          <p:nvPr/>
        </p:nvSpPr>
        <p:spPr>
          <a:xfrm>
            <a:off x="731520" y="1645920"/>
            <a:ext cx="5120640" cy="4389120"/>
          </a:xfrm>
          <a:prstGeom prst="roundRect">
            <a:avLst/>
          </a:prstGeom>
          <a:solidFill>
            <a:srgbClr val="EDF2F7"/>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4754880" cy="4023360"/>
          </a:xfrm>
          <a:prstGeom prst="rect">
            <a:avLst/>
          </a:prstGeom>
          <a:noFill/>
        </p:spPr>
        <p:txBody>
          <a:bodyPr wrap="square">
            <a:spAutoFit/>
          </a:bodyPr>
          <a:lstStyle/>
          <a:p>
            <a:pPr>
              <a:defRPr sz="1600" b="1">
                <a:solidFill>
                  <a:srgbClr val="1A365D"/>
                </a:solidFill>
              </a:defRPr>
            </a:pPr>
            <a:r>
              <a:t>The Industrial &amp; Educational Challenge</a:t>
            </a:r>
          </a:p>
          <a:p>
            <a:pPr>
              <a:spcBef>
                <a:spcPts val="800"/>
              </a:spcBef>
              <a:defRPr sz="1200">
                <a:solidFill>
                  <a:srgbClr val="2D3748"/>
                </a:solidFill>
              </a:defRPr>
            </a:pPr>
            <a:r>
              <a:t>• Component Degradation: Resistors in industrial power supplies and automotive ECUs suffer from thermal cracking, vibrational open circuits, solder bridges, and value drift.</a:t>
            </a:r>
          </a:p>
          <a:p>
            <a:pPr>
              <a:spcBef>
                <a:spcPts val="800"/>
              </a:spcBef>
              <a:defRPr sz="1200">
                <a:solidFill>
                  <a:srgbClr val="2D3748"/>
                </a:solidFill>
              </a:defRPr>
            </a:pPr>
            <a:r>
              <a:t>• Manual Troubleshooting Bottlenecks: Technicians spend hours desoldering parts or probing dozens of test points sequentially with multimeters.</a:t>
            </a:r>
          </a:p>
          <a:p>
            <a:pPr>
              <a:spcBef>
                <a:spcPts val="800"/>
              </a:spcBef>
              <a:defRPr sz="1200">
                <a:solidFill>
                  <a:srgbClr val="2D3748"/>
                </a:solidFill>
              </a:defRPr>
            </a:pPr>
            <a:r>
              <a:t>• Educational Gap: Engineering students often study KCL and nodal analysis purely as abstract mathematical exercises without seeing how they automate fault diagnosis.</a:t>
            </a:r>
          </a:p>
        </p:txBody>
      </p:sp>
      <p:sp>
        <p:nvSpPr>
          <p:cNvPr id="5" name="Rounded Rectangle 4"/>
          <p:cNvSpPr/>
          <p:nvPr/>
        </p:nvSpPr>
        <p:spPr>
          <a:xfrm>
            <a:off x="6217920" y="1645920"/>
            <a:ext cx="5212080" cy="4389120"/>
          </a:xfrm>
          <a:prstGeom prst="roundRect">
            <a:avLst/>
          </a:prstGeom>
          <a:solidFill>
            <a:srgbClr val="EBF8FF"/>
          </a:solidFill>
          <a:ln>
            <a:solidFill>
              <a:srgbClr val="3182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0" y="1828800"/>
            <a:ext cx="4846320" cy="4023360"/>
          </a:xfrm>
          <a:prstGeom prst="rect">
            <a:avLst/>
          </a:prstGeom>
          <a:noFill/>
        </p:spPr>
        <p:txBody>
          <a:bodyPr wrap="square">
            <a:spAutoFit/>
          </a:bodyPr>
          <a:lstStyle/>
          <a:p>
            <a:pPr>
              <a:defRPr sz="1600" b="1">
                <a:solidFill>
                  <a:srgbClr val="1A365D"/>
                </a:solidFill>
              </a:defRPr>
            </a:pPr>
            <a:r>
              <a:t>The 'Circuit Doctor' Paradigm</a:t>
            </a:r>
          </a:p>
          <a:p>
            <a:pPr>
              <a:spcBef>
                <a:spcPts val="800"/>
              </a:spcBef>
              <a:defRPr sz="1200">
                <a:solidFill>
                  <a:srgbClr val="2D3748"/>
                </a:solidFill>
              </a:defRPr>
            </a:pPr>
            <a:r>
              <a:t>✔ Holistic Multi-Signal Sensing: Instead of measuring only one voltage, we sample a 3-dimensional signature vector: [VA, VB, Is].</a:t>
            </a:r>
          </a:p>
          <a:p>
            <a:pPr>
              <a:spcBef>
                <a:spcPts val="800"/>
              </a:spcBef>
              <a:defRPr sz="1200">
                <a:solidFill>
                  <a:srgbClr val="2D3748"/>
                </a:solidFill>
              </a:defRPr>
            </a:pPr>
            <a:r>
              <a:t>✔ Deterministic Ground Truth: Exact theoretical nodal equations model circuit behavior under all catastrophic and parametric variations.</a:t>
            </a:r>
          </a:p>
          <a:p>
            <a:pPr>
              <a:spcBef>
                <a:spcPts val="800"/>
              </a:spcBef>
              <a:defRPr sz="1200">
                <a:solidFill>
                  <a:srgbClr val="2D3748"/>
                </a:solidFill>
              </a:defRPr>
            </a:pPr>
            <a:r>
              <a:t>✔ Intelligent Pattern Matching: Standardized nearest-centroid distance matching pinpoints the exact component failure in under 5 milliseconds.</a:t>
            </a:r>
          </a:p>
          <a:p>
            <a:pPr>
              <a:spcBef>
                <a:spcPts val="800"/>
              </a:spcBef>
              <a:defRPr sz="1200">
                <a:solidFill>
                  <a:srgbClr val="2D3748"/>
                </a:solidFill>
              </a:defRPr>
            </a:pPr>
            <a:r>
              <a:t>✔ Zero Physical Hardware Barrier: Fully implemented via online Falstad simulation and Python mathematical modeling.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defRPr sz="1100" b="1">
                <a:solidFill>
                  <a:srgbClr val="3182CE"/>
                </a:solidFill>
              </a:defRPr>
            </a:pPr>
            <a:r>
              <a:t>B.TECH BEEE PROJECT</a:t>
            </a:r>
          </a:p>
          <a:p>
            <a:pPr>
              <a:defRPr sz="2400" b="1">
                <a:solidFill>
                  <a:srgbClr val="1A365D"/>
                </a:solidFill>
              </a:defRPr>
            </a:pPr>
            <a:r>
              <a:t>Project Objectives &amp; Scope</a:t>
            </a:r>
          </a:p>
        </p:txBody>
      </p:sp>
      <p:sp>
        <p:nvSpPr>
          <p:cNvPr id="3" name="Rounded Rectangle 2"/>
          <p:cNvSpPr/>
          <p:nvPr/>
        </p:nvSpPr>
        <p:spPr>
          <a:xfrm>
            <a:off x="731520" y="1645920"/>
            <a:ext cx="3383280" cy="2011680"/>
          </a:xfrm>
          <a:prstGeom prst="roundRect">
            <a:avLst/>
          </a:prstGeom>
          <a:solidFill>
            <a:srgbClr val="EDF2F7"/>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783080"/>
            <a:ext cx="3108960" cy="1737360"/>
          </a:xfrm>
          <a:prstGeom prst="rect">
            <a:avLst/>
          </a:prstGeom>
          <a:noFill/>
        </p:spPr>
        <p:txBody>
          <a:bodyPr wrap="square">
            <a:spAutoFit/>
          </a:bodyPr>
          <a:lstStyle/>
          <a:p>
            <a:pPr>
              <a:defRPr sz="1300" b="1">
                <a:solidFill>
                  <a:srgbClr val="1A365D"/>
                </a:solidFill>
              </a:defRPr>
            </a:pPr>
            <a:r>
              <a:t>1. Mathematical Modeling</a:t>
            </a:r>
          </a:p>
          <a:p>
            <a:pPr>
              <a:spcBef>
                <a:spcPts val="400"/>
              </a:spcBef>
              <a:defRPr sz="1100">
                <a:solidFill>
                  <a:srgbClr val="2D3748"/>
                </a:solidFill>
              </a:defRPr>
            </a:pPr>
            <a:r>
              <a:t>Derive closed-form nodal equations for a 4-resistor DC network using KCL and KVL, verified against Matrix Nodal Analysis (G*V = I).</a:t>
            </a:r>
          </a:p>
        </p:txBody>
      </p:sp>
      <p:sp>
        <p:nvSpPr>
          <p:cNvPr id="5" name="Rounded Rectangle 4"/>
          <p:cNvSpPr/>
          <p:nvPr/>
        </p:nvSpPr>
        <p:spPr>
          <a:xfrm>
            <a:off x="4297680" y="1645920"/>
            <a:ext cx="3383280" cy="2011680"/>
          </a:xfrm>
          <a:prstGeom prst="roundRect">
            <a:avLst/>
          </a:prstGeom>
          <a:solidFill>
            <a:srgbClr val="EDF2F7"/>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434840" y="1783080"/>
            <a:ext cx="3108960" cy="1737360"/>
          </a:xfrm>
          <a:prstGeom prst="rect">
            <a:avLst/>
          </a:prstGeom>
          <a:noFill/>
        </p:spPr>
        <p:txBody>
          <a:bodyPr wrap="square">
            <a:spAutoFit/>
          </a:bodyPr>
          <a:lstStyle/>
          <a:p>
            <a:pPr>
              <a:defRPr sz="1300" b="1">
                <a:solidFill>
                  <a:srgbClr val="1A365D"/>
                </a:solidFill>
              </a:defRPr>
            </a:pPr>
            <a:r>
              <a:t>2. Multi-Signal Signatures</a:t>
            </a:r>
          </a:p>
          <a:p>
            <a:pPr>
              <a:spcBef>
                <a:spcPts val="400"/>
              </a:spcBef>
              <a:defRPr sz="1100">
                <a:solidFill>
                  <a:srgbClr val="2D3748"/>
                </a:solidFill>
              </a:defRPr>
            </a:pPr>
            <a:r>
              <a:t>Formulate a 3-feature signature vector [VA, VB, Is] capable of uniquely mapping 13 distinct circuit operating states.</a:t>
            </a:r>
          </a:p>
        </p:txBody>
      </p:sp>
      <p:sp>
        <p:nvSpPr>
          <p:cNvPr id="7" name="Rounded Rectangle 6"/>
          <p:cNvSpPr/>
          <p:nvPr/>
        </p:nvSpPr>
        <p:spPr>
          <a:xfrm>
            <a:off x="7863840" y="1645920"/>
            <a:ext cx="3383280" cy="2011680"/>
          </a:xfrm>
          <a:prstGeom prst="roundRect">
            <a:avLst/>
          </a:prstGeom>
          <a:solidFill>
            <a:srgbClr val="EDF2F7"/>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01000" y="1783080"/>
            <a:ext cx="3108960" cy="1737360"/>
          </a:xfrm>
          <a:prstGeom prst="rect">
            <a:avLst/>
          </a:prstGeom>
          <a:noFill/>
        </p:spPr>
        <p:txBody>
          <a:bodyPr wrap="square">
            <a:spAutoFit/>
          </a:bodyPr>
          <a:lstStyle/>
          <a:p>
            <a:pPr>
              <a:defRPr sz="1300" b="1">
                <a:solidFill>
                  <a:srgbClr val="1A365D"/>
                </a:solidFill>
              </a:defRPr>
            </a:pPr>
            <a:r>
              <a:t>3. Falstad Simulation</a:t>
            </a:r>
          </a:p>
          <a:p>
            <a:pPr>
              <a:spcBef>
                <a:spcPts val="400"/>
              </a:spcBef>
              <a:defRPr sz="1100">
                <a:solidFill>
                  <a:srgbClr val="2D3748"/>
                </a:solidFill>
              </a:defRPr>
            </a:pPr>
            <a:r>
              <a:t>Build the physical circuit in Falstad online simulator, cross-check nominal voltages, and generate clickable interactive simulation URLs.</a:t>
            </a:r>
          </a:p>
        </p:txBody>
      </p:sp>
      <p:sp>
        <p:nvSpPr>
          <p:cNvPr id="9" name="Rounded Rectangle 8"/>
          <p:cNvSpPr/>
          <p:nvPr/>
        </p:nvSpPr>
        <p:spPr>
          <a:xfrm>
            <a:off x="731520" y="3931920"/>
            <a:ext cx="3383280" cy="2011680"/>
          </a:xfrm>
          <a:prstGeom prst="roundRect">
            <a:avLst/>
          </a:prstGeom>
          <a:solidFill>
            <a:srgbClr val="EDF2F7"/>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069080"/>
            <a:ext cx="3108960" cy="1737360"/>
          </a:xfrm>
          <a:prstGeom prst="rect">
            <a:avLst/>
          </a:prstGeom>
          <a:noFill/>
        </p:spPr>
        <p:txBody>
          <a:bodyPr wrap="square">
            <a:spAutoFit/>
          </a:bodyPr>
          <a:lstStyle/>
          <a:p>
            <a:pPr>
              <a:defRPr sz="1300" b="1">
                <a:solidFill>
                  <a:srgbClr val="1A365D"/>
                </a:solidFill>
              </a:defRPr>
            </a:pPr>
            <a:r>
              <a:t>4. ML Classification</a:t>
            </a:r>
          </a:p>
          <a:p>
            <a:pPr>
              <a:spcBef>
                <a:spcPts val="400"/>
              </a:spcBef>
              <a:defRPr sz="1100">
                <a:solidFill>
                  <a:srgbClr val="2D3748"/>
                </a:solidFill>
              </a:defRPr>
            </a:pPr>
            <a:r>
              <a:t>Implement a Standardized Nearest Centroid Classifier and compare it with a Baseline Threshold Detector across 390 test cases.</a:t>
            </a:r>
          </a:p>
        </p:txBody>
      </p:sp>
      <p:sp>
        <p:nvSpPr>
          <p:cNvPr id="11" name="Rounded Rectangle 10"/>
          <p:cNvSpPr/>
          <p:nvPr/>
        </p:nvSpPr>
        <p:spPr>
          <a:xfrm>
            <a:off x="4297680" y="3931920"/>
            <a:ext cx="3383280" cy="2011680"/>
          </a:xfrm>
          <a:prstGeom prst="roundRect">
            <a:avLst/>
          </a:prstGeom>
          <a:solidFill>
            <a:srgbClr val="EDF2F7"/>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34840" y="4069080"/>
            <a:ext cx="3108960" cy="1737360"/>
          </a:xfrm>
          <a:prstGeom prst="rect">
            <a:avLst/>
          </a:prstGeom>
          <a:noFill/>
        </p:spPr>
        <p:txBody>
          <a:bodyPr wrap="square">
            <a:spAutoFit/>
          </a:bodyPr>
          <a:lstStyle/>
          <a:p>
            <a:pPr>
              <a:defRPr sz="1300" b="1">
                <a:solidFill>
                  <a:srgbClr val="1A365D"/>
                </a:solidFill>
              </a:defRPr>
            </a:pPr>
            <a:r>
              <a:t>5. Robustness Testing</a:t>
            </a:r>
          </a:p>
          <a:p>
            <a:pPr>
              <a:spcBef>
                <a:spcPts val="400"/>
              </a:spcBef>
              <a:defRPr sz="1100">
                <a:solidFill>
                  <a:srgbClr val="2D3748"/>
                </a:solidFill>
              </a:defRPr>
            </a:pPr>
            <a:r>
              <a:t>Quantify diagnostic accuracy against 1% to 15% resistor tolerances and 10mV to 200mV sensor noise levels.</a:t>
            </a:r>
          </a:p>
        </p:txBody>
      </p:sp>
      <p:sp>
        <p:nvSpPr>
          <p:cNvPr id="13" name="Rounded Rectangle 12"/>
          <p:cNvSpPr/>
          <p:nvPr/>
        </p:nvSpPr>
        <p:spPr>
          <a:xfrm>
            <a:off x="7863840" y="3931920"/>
            <a:ext cx="3383280" cy="2011680"/>
          </a:xfrm>
          <a:prstGeom prst="roundRect">
            <a:avLst/>
          </a:prstGeom>
          <a:solidFill>
            <a:srgbClr val="EDF2F7"/>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01000" y="4069080"/>
            <a:ext cx="3108960" cy="1737360"/>
          </a:xfrm>
          <a:prstGeom prst="rect">
            <a:avLst/>
          </a:prstGeom>
          <a:noFill/>
        </p:spPr>
        <p:txBody>
          <a:bodyPr wrap="square">
            <a:spAutoFit/>
          </a:bodyPr>
          <a:lstStyle/>
          <a:p>
            <a:pPr>
              <a:defRPr sz="1300" b="1">
                <a:solidFill>
                  <a:srgbClr val="1A365D"/>
                </a:solidFill>
              </a:defRPr>
            </a:pPr>
            <a:r>
              <a:t>6. Interactive GUI</a:t>
            </a:r>
          </a:p>
          <a:p>
            <a:pPr>
              <a:spcBef>
                <a:spcPts val="400"/>
              </a:spcBef>
              <a:defRPr sz="1100">
                <a:solidFill>
                  <a:srgbClr val="2D3748"/>
                </a:solidFill>
              </a:defRPr>
            </a:pPr>
            <a:r>
              <a:t>Deploy an intuitive graphical interface for real-time diagnosis, uncertainty scoring, and supervised self-learning updates.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defRPr sz="1100" b="1">
                <a:solidFill>
                  <a:srgbClr val="3182CE"/>
                </a:solidFill>
              </a:defRPr>
            </a:pPr>
            <a:r>
              <a:t>B.TECH BEEE PROJECT</a:t>
            </a:r>
          </a:p>
          <a:p>
            <a:pPr>
              <a:defRPr sz="2400" b="1">
                <a:solidFill>
                  <a:srgbClr val="1A365D"/>
                </a:solidFill>
              </a:defRPr>
            </a:pPr>
            <a:r>
              <a:t>Literature Review: Existing Approaches vs Identified Gap</a:t>
            </a:r>
          </a:p>
        </p:txBody>
      </p:sp>
      <p:graphicFrame>
        <p:nvGraphicFramePr>
          <p:cNvPr id="3" name="Table 2"/>
          <p:cNvGraphicFramePr>
            <a:graphicFrameLocks noGrp="1"/>
          </p:cNvGraphicFramePr>
          <p:nvPr/>
        </p:nvGraphicFramePr>
        <p:xfrm>
          <a:off x="731520" y="1645920"/>
          <a:ext cx="10728655" cy="4389120"/>
        </p:xfrm>
        <a:graphic>
          <a:graphicData uri="http://schemas.openxmlformats.org/drawingml/2006/table">
            <a:tbl>
              <a:tblPr firstRow="1" bandRow="1">
                <a:tableStyleId>{5C22544A-7EE6-4342-B048-85BDC9FD1C3A}</a:tableStyleId>
              </a:tblPr>
              <a:tblGrid>
                <a:gridCol w="2286000"/>
                <a:gridCol w="2743200"/>
                <a:gridCol w="2743200"/>
                <a:gridCol w="2956255"/>
              </a:tblGrid>
              <a:tr h="877824">
                <a:tc>
                  <a:txBody>
                    <a:bodyPr/>
                    <a:lstStyle/>
                    <a:p>
                      <a:pPr>
                        <a:defRPr sz="1200" b="1">
                          <a:solidFill>
                            <a:srgbClr val="FFFFFF"/>
                          </a:solidFill>
                        </a:defRPr>
                      </a:pPr>
                      <a:r>
                        <a:t>Diagnostic Methodology</a:t>
                      </a:r>
                    </a:p>
                  </a:txBody>
                  <a:tcPr>
                    <a:solidFill>
                      <a:srgbClr val="1A365D"/>
                    </a:solidFill>
                  </a:tcPr>
                </a:tc>
                <a:tc>
                  <a:txBody>
                    <a:bodyPr/>
                    <a:lstStyle/>
                    <a:p>
                      <a:pPr>
                        <a:defRPr sz="1200" b="1">
                          <a:solidFill>
                            <a:srgbClr val="FFFFFF"/>
                          </a:solidFill>
                        </a:defRPr>
                      </a:pPr>
                      <a:r>
                        <a:t>Typical Application</a:t>
                      </a:r>
                    </a:p>
                  </a:txBody>
                  <a:tcPr>
                    <a:solidFill>
                      <a:srgbClr val="1A365D"/>
                    </a:solidFill>
                  </a:tcPr>
                </a:tc>
                <a:tc>
                  <a:txBody>
                    <a:bodyPr/>
                    <a:lstStyle/>
                    <a:p>
                      <a:pPr>
                        <a:defRPr sz="1200" b="1">
                          <a:solidFill>
                            <a:srgbClr val="FFFFFF"/>
                          </a:solidFill>
                        </a:defRPr>
                      </a:pPr>
                      <a:r>
                        <a:t>Key Limitations</a:t>
                      </a:r>
                    </a:p>
                  </a:txBody>
                  <a:tcPr>
                    <a:solidFill>
                      <a:srgbClr val="1A365D"/>
                    </a:solidFill>
                  </a:tcPr>
                </a:tc>
                <a:tc>
                  <a:txBody>
                    <a:bodyPr/>
                    <a:lstStyle/>
                    <a:p>
                      <a:pPr>
                        <a:defRPr sz="1200" b="1">
                          <a:solidFill>
                            <a:srgbClr val="FFFFFF"/>
                          </a:solidFill>
                        </a:defRPr>
                      </a:pPr>
                      <a:r>
                        <a:t>Circuit Doctor Advantage</a:t>
                      </a:r>
                    </a:p>
                  </a:txBody>
                  <a:tcPr>
                    <a:solidFill>
                      <a:srgbClr val="1A365D"/>
                    </a:solidFill>
                  </a:tcPr>
                </a:tc>
              </a:tr>
              <a:tr h="877824">
                <a:tc>
                  <a:txBody>
                    <a:bodyPr/>
                    <a:lstStyle/>
                    <a:p>
                      <a:pPr>
                        <a:defRPr sz="1000">
                          <a:solidFill>
                            <a:srgbClr val="2D3748"/>
                          </a:solidFill>
                        </a:defRPr>
                      </a:pPr>
                      <a:r>
                        <a:t>Manual Multimeter Probing</a:t>
                      </a:r>
                    </a:p>
                  </a:txBody>
                  <a:tcPr>
                    <a:solidFill>
                      <a:srgbClr val="FFFFFF"/>
                    </a:solidFill>
                  </a:tcPr>
                </a:tc>
                <a:tc>
                  <a:txBody>
                    <a:bodyPr/>
                    <a:lstStyle/>
                    <a:p>
                      <a:pPr>
                        <a:defRPr sz="1000">
                          <a:solidFill>
                            <a:srgbClr val="2D3748"/>
                          </a:solidFill>
                        </a:defRPr>
                      </a:pPr>
                      <a:r>
                        <a:t>Basic electronics lab benches</a:t>
                      </a:r>
                    </a:p>
                  </a:txBody>
                  <a:tcPr>
                    <a:solidFill>
                      <a:srgbClr val="FFFFFF"/>
                    </a:solidFill>
                  </a:tcPr>
                </a:tc>
                <a:tc>
                  <a:txBody>
                    <a:bodyPr/>
                    <a:lstStyle/>
                    <a:p>
                      <a:pPr>
                        <a:defRPr sz="1000">
                          <a:solidFill>
                            <a:srgbClr val="2D3748"/>
                          </a:solidFill>
                        </a:defRPr>
                      </a:pPr>
                      <a:r>
                        <a:t>Labor intensive; requires probing every branch; no automation.</a:t>
                      </a:r>
                    </a:p>
                  </a:txBody>
                  <a:tcPr>
                    <a:solidFill>
                      <a:srgbClr val="FFFFFF"/>
                    </a:solidFill>
                  </a:tcPr>
                </a:tc>
                <a:tc>
                  <a:txBody>
                    <a:bodyPr/>
                    <a:lstStyle/>
                    <a:p>
                      <a:pPr>
                        <a:defRPr sz="1000">
                          <a:solidFill>
                            <a:srgbClr val="2D3748"/>
                          </a:solidFill>
                        </a:defRPr>
                      </a:pPr>
                      <a:r>
                        <a:t>Samples only 2 test points + source current; diagnoses in milliseconds.</a:t>
                      </a:r>
                    </a:p>
                  </a:txBody>
                  <a:tcPr>
                    <a:solidFill>
                      <a:srgbClr val="FFFFFF"/>
                    </a:solidFill>
                  </a:tcPr>
                </a:tc>
              </a:tr>
              <a:tr h="877824">
                <a:tc>
                  <a:txBody>
                    <a:bodyPr/>
                    <a:lstStyle/>
                    <a:p>
                      <a:pPr>
                        <a:defRPr sz="1000">
                          <a:solidFill>
                            <a:srgbClr val="2D3748"/>
                          </a:solidFill>
                        </a:defRPr>
                      </a:pPr>
                      <a:r>
                        <a:t>Single-Threshold Detectors</a:t>
                      </a:r>
                    </a:p>
                  </a:txBody>
                  <a:tcPr>
                    <a:solidFill>
                      <a:srgbClr val="F7FAFC"/>
                    </a:solidFill>
                  </a:tcPr>
                </a:tc>
                <a:tc>
                  <a:txBody>
                    <a:bodyPr/>
                    <a:lstStyle/>
                    <a:p>
                      <a:pPr>
                        <a:defRPr sz="1000">
                          <a:solidFill>
                            <a:srgbClr val="2D3748"/>
                          </a:solidFill>
                        </a:defRPr>
                      </a:pPr>
                      <a:r>
                        <a:t>Simple overvoltage cutoffs</a:t>
                      </a:r>
                    </a:p>
                  </a:txBody>
                  <a:tcPr>
                    <a:solidFill>
                      <a:srgbClr val="F7FAFC"/>
                    </a:solidFill>
                  </a:tcPr>
                </a:tc>
                <a:tc>
                  <a:txBody>
                    <a:bodyPr/>
                    <a:lstStyle/>
                    <a:p>
                      <a:pPr>
                        <a:defRPr sz="1000">
                          <a:solidFill>
                            <a:srgbClr val="2D3748"/>
                          </a:solidFill>
                        </a:defRPr>
                      </a:pPr>
                      <a:r>
                        <a:t>Fails when multiple faults yield identical single-node voltages (e.g. R1 Open vs R2 Short).</a:t>
                      </a:r>
                    </a:p>
                  </a:txBody>
                  <a:tcPr>
                    <a:solidFill>
                      <a:srgbClr val="F7FAFC"/>
                    </a:solidFill>
                  </a:tcPr>
                </a:tc>
                <a:tc>
                  <a:txBody>
                    <a:bodyPr/>
                    <a:lstStyle/>
                    <a:p>
                      <a:pPr>
                        <a:defRPr sz="1000">
                          <a:solidFill>
                            <a:srgbClr val="2D3748"/>
                          </a:solidFill>
                        </a:defRPr>
                      </a:pPr>
                      <a:r>
                        <a:t>Employs a 3-dimensional signature vector [VA, VB, Is] resolving all ambiguities.</a:t>
                      </a:r>
                    </a:p>
                  </a:txBody>
                  <a:tcPr>
                    <a:solidFill>
                      <a:srgbClr val="F7FAFC"/>
                    </a:solidFill>
                  </a:tcPr>
                </a:tc>
              </a:tr>
              <a:tr h="877824">
                <a:tc>
                  <a:txBody>
                    <a:bodyPr/>
                    <a:lstStyle/>
                    <a:p>
                      <a:pPr>
                        <a:defRPr sz="1000">
                          <a:solidFill>
                            <a:srgbClr val="2D3748"/>
                          </a:solidFill>
                        </a:defRPr>
                      </a:pPr>
                      <a:r>
                        <a:t>Deep Neural Networks (DNN)</a:t>
                      </a:r>
                    </a:p>
                  </a:txBody>
                  <a:tcPr>
                    <a:solidFill>
                      <a:srgbClr val="FFFFFF"/>
                    </a:solidFill>
                  </a:tcPr>
                </a:tc>
                <a:tc>
                  <a:txBody>
                    <a:bodyPr/>
                    <a:lstStyle/>
                    <a:p>
                      <a:pPr>
                        <a:defRPr sz="1000">
                          <a:solidFill>
                            <a:srgbClr val="2D3748"/>
                          </a:solidFill>
                        </a:defRPr>
                      </a:pPr>
                      <a:r>
                        <a:t>Large industrial power grids</a:t>
                      </a:r>
                    </a:p>
                  </a:txBody>
                  <a:tcPr>
                    <a:solidFill>
                      <a:srgbClr val="FFFFFF"/>
                    </a:solidFill>
                  </a:tcPr>
                </a:tc>
                <a:tc>
                  <a:txBody>
                    <a:bodyPr/>
                    <a:lstStyle/>
                    <a:p>
                      <a:pPr>
                        <a:defRPr sz="1000">
                          <a:solidFill>
                            <a:srgbClr val="2D3748"/>
                          </a:solidFill>
                        </a:defRPr>
                      </a:pPr>
                      <a:r>
                        <a:t>Black-box decisions; excessive computational overhead; uninterpretable for students.</a:t>
                      </a:r>
                    </a:p>
                  </a:txBody>
                  <a:tcPr>
                    <a:solidFill>
                      <a:srgbClr val="FFFFFF"/>
                    </a:solidFill>
                  </a:tcPr>
                </a:tc>
                <a:tc>
                  <a:txBody>
                    <a:bodyPr/>
                    <a:lstStyle/>
                    <a:p>
                      <a:pPr>
                        <a:defRPr sz="1000">
                          <a:solidFill>
                            <a:srgbClr val="2D3748"/>
                          </a:solidFill>
                        </a:defRPr>
                      </a:pPr>
                      <a:r>
                        <a:t>Explainable nearest-centroid metric with standardized Euclidean distance &amp; margins.</a:t>
                      </a:r>
                    </a:p>
                  </a:txBody>
                  <a:tcPr>
                    <a:solidFill>
                      <a:srgbClr val="FFFFFF"/>
                    </a:solidFill>
                  </a:tcPr>
                </a:tc>
              </a:tr>
              <a:tr h="877824">
                <a:tc>
                  <a:txBody>
                    <a:bodyPr/>
                    <a:lstStyle/>
                    <a:p>
                      <a:pPr>
                        <a:defRPr sz="1000">
                          <a:solidFill>
                            <a:srgbClr val="2D3748"/>
                          </a:solidFill>
                        </a:defRPr>
                      </a:pPr>
                      <a:r>
                        <a:t>Physical Hardware Jigs</a:t>
                      </a:r>
                    </a:p>
                  </a:txBody>
                  <a:tcPr>
                    <a:solidFill>
                      <a:srgbClr val="F7FAFC"/>
                    </a:solidFill>
                  </a:tcPr>
                </a:tc>
                <a:tc>
                  <a:txBody>
                    <a:bodyPr/>
                    <a:lstStyle/>
                    <a:p>
                      <a:pPr>
                        <a:defRPr sz="1000">
                          <a:solidFill>
                            <a:srgbClr val="2D3748"/>
                          </a:solidFill>
                        </a:defRPr>
                      </a:pPr>
                      <a:r>
                        <a:t>Commercial test fixtures</a:t>
                      </a:r>
                    </a:p>
                  </a:txBody>
                  <a:tcPr>
                    <a:solidFill>
                      <a:srgbClr val="F7FAFC"/>
                    </a:solidFill>
                  </a:tcPr>
                </a:tc>
                <a:tc>
                  <a:txBody>
                    <a:bodyPr/>
                    <a:lstStyle/>
                    <a:p>
                      <a:pPr>
                        <a:defRPr sz="1000">
                          <a:solidFill>
                            <a:srgbClr val="2D3748"/>
                          </a:solidFill>
                        </a:defRPr>
                      </a:pPr>
                      <a:r>
                        <a:t>Costly; prone to wear and tear; limited fault varieties.</a:t>
                      </a:r>
                    </a:p>
                  </a:txBody>
                  <a:tcPr>
                    <a:solidFill>
                      <a:srgbClr val="F7FAFC"/>
                    </a:solidFill>
                  </a:tcPr>
                </a:tc>
                <a:tc>
                  <a:txBody>
                    <a:bodyPr/>
                    <a:lstStyle/>
                    <a:p>
                      <a:pPr>
                        <a:defRPr sz="1000">
                          <a:solidFill>
                            <a:srgbClr val="2D3748"/>
                          </a:solidFill>
                        </a:defRPr>
                      </a:pPr>
                      <a:r>
                        <a:t>Zero hardware cost; uses online Falstad SPICE and reproducible Python model.</a:t>
                      </a:r>
                    </a:p>
                  </a:txBody>
                  <a:tcPr>
                    <a:solidFill>
                      <a:srgbClr val="F7FAFC"/>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defRPr sz="1100" b="1">
                <a:solidFill>
                  <a:srgbClr val="3182CE"/>
                </a:solidFill>
              </a:defRPr>
            </a:pPr>
            <a:r>
              <a:t>B.TECH BEEE PROJECT</a:t>
            </a:r>
          </a:p>
          <a:p>
            <a:pPr>
              <a:defRPr sz="2400" b="1">
                <a:solidFill>
                  <a:srgbClr val="1A365D"/>
                </a:solidFill>
              </a:defRPr>
            </a:pPr>
            <a:r>
              <a:t>Electrical Circuit Topology &amp; Nominal Design</a:t>
            </a:r>
          </a:p>
        </p:txBody>
      </p:sp>
      <p:pic>
        <p:nvPicPr>
          <p:cNvPr id="3" name="Picture 2" descr="circuit_schematic.png"/>
          <p:cNvPicPr>
            <a:picLocks noChangeAspect="1"/>
          </p:cNvPicPr>
          <p:nvPr/>
        </p:nvPicPr>
        <p:blipFill>
          <a:blip r:embed="rId2"/>
          <a:stretch>
            <a:fillRect/>
          </a:stretch>
        </p:blipFill>
        <p:spPr>
          <a:xfrm>
            <a:off x="731520" y="1645920"/>
            <a:ext cx="5669280" cy="2802790"/>
          </a:xfrm>
          <a:prstGeom prst="rect">
            <a:avLst/>
          </a:prstGeom>
        </p:spPr>
      </p:pic>
      <p:sp>
        <p:nvSpPr>
          <p:cNvPr id="4" name="Rounded Rectangle 3"/>
          <p:cNvSpPr/>
          <p:nvPr/>
        </p:nvSpPr>
        <p:spPr>
          <a:xfrm>
            <a:off x="6675120" y="1645920"/>
            <a:ext cx="4754880" cy="4389120"/>
          </a:xfrm>
          <a:prstGeom prst="roundRect">
            <a:avLst/>
          </a:prstGeom>
          <a:solidFill>
            <a:srgbClr val="EDF2F7"/>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0" y="1828800"/>
            <a:ext cx="4389120" cy="4023360"/>
          </a:xfrm>
          <a:prstGeom prst="rect">
            <a:avLst/>
          </a:prstGeom>
          <a:noFill/>
        </p:spPr>
        <p:txBody>
          <a:bodyPr wrap="square">
            <a:spAutoFit/>
          </a:bodyPr>
          <a:lstStyle/>
          <a:p>
            <a:pPr>
              <a:defRPr sz="1600" b="1">
                <a:solidFill>
                  <a:srgbClr val="1A365D"/>
                </a:solidFill>
              </a:defRPr>
            </a:pPr>
            <a:r>
              <a:t>Nominal Component Specifications</a:t>
            </a:r>
          </a:p>
          <a:p>
            <a:pPr>
              <a:spcBef>
                <a:spcPts val="600"/>
              </a:spcBef>
              <a:defRPr sz="1100">
                <a:solidFill>
                  <a:srgbClr val="2D3748"/>
                </a:solidFill>
              </a:defRPr>
            </a:pPr>
            <a:r>
              <a:t>• DC Voltage Supply (Vs): 10.0 V Unipolar DC</a:t>
            </a:r>
          </a:p>
          <a:p>
            <a:pPr>
              <a:spcBef>
                <a:spcPts val="600"/>
              </a:spcBef>
              <a:defRPr sz="1100">
                <a:solidFill>
                  <a:srgbClr val="2D3748"/>
                </a:solidFill>
              </a:defRPr>
            </a:pPr>
            <a:r>
              <a:t>• Resistor R1: 1.0 kΩ (1000 Ω) — Series input resistor from Vs to Node A</a:t>
            </a:r>
          </a:p>
          <a:p>
            <a:pPr>
              <a:spcBef>
                <a:spcPts val="600"/>
              </a:spcBef>
              <a:defRPr sz="1100">
                <a:solidFill>
                  <a:srgbClr val="2D3748"/>
                </a:solidFill>
              </a:defRPr>
            </a:pPr>
            <a:r>
              <a:t>• Resistor R2: 2.0 kΩ (2000 Ω) — Shunt pull-down from Node A to Ground</a:t>
            </a:r>
          </a:p>
          <a:p>
            <a:pPr>
              <a:spcBef>
                <a:spcPts val="600"/>
              </a:spcBef>
              <a:defRPr sz="1100">
                <a:solidFill>
                  <a:srgbClr val="2D3748"/>
                </a:solidFill>
              </a:defRPr>
            </a:pPr>
            <a:r>
              <a:t>• Resistor R3: 1.5 kΩ (1500 Ω) — Bridge resistor coupling Node A to Node B</a:t>
            </a:r>
          </a:p>
          <a:p>
            <a:pPr>
              <a:spcBef>
                <a:spcPts val="600"/>
              </a:spcBef>
              <a:defRPr sz="1100">
                <a:solidFill>
                  <a:srgbClr val="2D3748"/>
                </a:solidFill>
              </a:defRPr>
            </a:pPr>
            <a:r>
              <a:t>• Resistor R4: 3.0 kΩ (3000 Ω) — Pull-down resistor from Node B to Ground</a:t>
            </a:r>
          </a:p>
          <a:p>
            <a:pPr>
              <a:spcBef>
                <a:spcPts val="600"/>
              </a:spcBef>
              <a:defRPr sz="1100">
                <a:solidFill>
                  <a:srgbClr val="2D3748"/>
                </a:solidFill>
              </a:defRPr>
            </a:pPr>
            <a:r>
              <a:t>• Ground (GND): 0.0 V Common reference node</a:t>
            </a:r>
          </a:p>
          <a:p>
            <a:pPr>
              <a:spcBef>
                <a:spcPts val="600"/>
              </a:spcBef>
              <a:defRPr sz="1100">
                <a:solidFill>
                  <a:srgbClr val="2D3748"/>
                </a:solidFill>
              </a:defRPr>
            </a:pPr>
            <a:r>
              <a:t>• Multi-Signal Feature Vector: [VA, VB, Is] (Units: Volts, Volts, mA)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defRPr sz="1100" b="1">
                <a:solidFill>
                  <a:srgbClr val="3182CE"/>
                </a:solidFill>
              </a:defRPr>
            </a:pPr>
            <a:r>
              <a:t>B.TECH BEEE PROJECT</a:t>
            </a:r>
          </a:p>
          <a:p>
            <a:pPr>
              <a:defRPr sz="2400" b="1">
                <a:solidFill>
                  <a:srgbClr val="1A365D"/>
                </a:solidFill>
              </a:defRPr>
            </a:pPr>
            <a:r>
              <a:t>Working Principle &amp; Nodal Analysis Derivation</a:t>
            </a:r>
          </a:p>
        </p:txBody>
      </p:sp>
      <p:sp>
        <p:nvSpPr>
          <p:cNvPr id="3" name="Rounded Rectangle 2"/>
          <p:cNvSpPr/>
          <p:nvPr/>
        </p:nvSpPr>
        <p:spPr>
          <a:xfrm>
            <a:off x="731520" y="1645920"/>
            <a:ext cx="3383280" cy="4389120"/>
          </a:xfrm>
          <a:prstGeom prst="roundRect">
            <a:avLst/>
          </a:prstGeom>
          <a:solidFill>
            <a:srgbClr val="EDF2F7"/>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828800"/>
            <a:ext cx="3108960" cy="4023360"/>
          </a:xfrm>
          <a:prstGeom prst="rect">
            <a:avLst/>
          </a:prstGeom>
          <a:noFill/>
        </p:spPr>
        <p:txBody>
          <a:bodyPr wrap="square">
            <a:spAutoFit/>
          </a:bodyPr>
          <a:lstStyle/>
          <a:p>
            <a:pPr>
              <a:defRPr sz="1400" b="1">
                <a:solidFill>
                  <a:srgbClr val="1A365D"/>
                </a:solidFill>
              </a:defRPr>
            </a:pPr>
            <a:r>
              <a:t>Step 1: KCL at Node A</a:t>
            </a:r>
          </a:p>
          <a:p>
            <a:pPr>
              <a:spcBef>
                <a:spcPts val="800"/>
              </a:spcBef>
              <a:defRPr sz="1100">
                <a:solidFill>
                  <a:srgbClr val="2D3748"/>
                </a:solidFill>
              </a:defRPr>
            </a:pPr>
            <a:r>
              <a:t>(VA - Vs)/R1 + VA/R2 + (VA - VB)/R3 = 0</a:t>
            </a:r>
            <a:br/>
            <a:br/>
            <a:r>
              <a:t>VA * (1/R1 + 1/R2 + 1/R3) - VB * (1/R3) = Vs/R1</a:t>
            </a:r>
            <a:br/>
            <a:br/>
            <a:r>
              <a:t>Conductance coefficients:</a:t>
            </a:r>
            <a:br/>
            <a:r>
              <a:t>G11 = 1 + 0.5 + 0.667 = 2.167 mS</a:t>
            </a:r>
            <a:br/>
            <a:r>
              <a:t>G12 = -0.667 mS</a:t>
            </a:r>
          </a:p>
        </p:txBody>
      </p:sp>
      <p:sp>
        <p:nvSpPr>
          <p:cNvPr id="5" name="Rounded Rectangle 4"/>
          <p:cNvSpPr/>
          <p:nvPr/>
        </p:nvSpPr>
        <p:spPr>
          <a:xfrm>
            <a:off x="4297680" y="1645920"/>
            <a:ext cx="3383280" cy="4389120"/>
          </a:xfrm>
          <a:prstGeom prst="roundRect">
            <a:avLst/>
          </a:prstGeom>
          <a:solidFill>
            <a:srgbClr val="EDF2F7"/>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434840" y="1828800"/>
            <a:ext cx="3108960" cy="4023360"/>
          </a:xfrm>
          <a:prstGeom prst="rect">
            <a:avLst/>
          </a:prstGeom>
          <a:noFill/>
        </p:spPr>
        <p:txBody>
          <a:bodyPr wrap="square">
            <a:spAutoFit/>
          </a:bodyPr>
          <a:lstStyle/>
          <a:p>
            <a:pPr>
              <a:defRPr sz="1400" b="1">
                <a:solidFill>
                  <a:srgbClr val="1A365D"/>
                </a:solidFill>
              </a:defRPr>
            </a:pPr>
            <a:r>
              <a:t>Step 2: KCL at Node B</a:t>
            </a:r>
          </a:p>
          <a:p>
            <a:pPr>
              <a:spcBef>
                <a:spcPts val="800"/>
              </a:spcBef>
              <a:defRPr sz="1100">
                <a:solidFill>
                  <a:srgbClr val="2D3748"/>
                </a:solidFill>
              </a:defRPr>
            </a:pPr>
            <a:r>
              <a:t>(VB - VA)/R3 + VB/R4 = 0</a:t>
            </a:r>
            <a:br/>
            <a:br/>
            <a:r>
              <a:t>-VA * (1/R3) + VB * (1/R3 + 1/R4) = 0</a:t>
            </a:r>
            <a:br/>
            <a:br/>
            <a:r>
              <a:t>Voltage divider relation:</a:t>
            </a:r>
            <a:br/>
            <a:r>
              <a:t>VB = VA * [ R4 / (R3 + R4) ]</a:t>
            </a:r>
            <a:br/>
            <a:r>
              <a:t>VB = VA * [ 3.0 / (1.5 + 3.0) ] = (2/3) * VA</a:t>
            </a:r>
          </a:p>
        </p:txBody>
      </p:sp>
      <p:sp>
        <p:nvSpPr>
          <p:cNvPr id="7" name="Rounded Rectangle 6"/>
          <p:cNvSpPr/>
          <p:nvPr/>
        </p:nvSpPr>
        <p:spPr>
          <a:xfrm>
            <a:off x="7863840" y="1645920"/>
            <a:ext cx="3383280" cy="4389120"/>
          </a:xfrm>
          <a:prstGeom prst="roundRect">
            <a:avLst/>
          </a:prstGeom>
          <a:solidFill>
            <a:srgbClr val="EDF2F7"/>
          </a:solidFill>
          <a:ln>
            <a:solidFill>
              <a:srgbClr val="3182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01000" y="1828800"/>
            <a:ext cx="3108960" cy="4023360"/>
          </a:xfrm>
          <a:prstGeom prst="rect">
            <a:avLst/>
          </a:prstGeom>
          <a:noFill/>
        </p:spPr>
        <p:txBody>
          <a:bodyPr wrap="square">
            <a:spAutoFit/>
          </a:bodyPr>
          <a:lstStyle/>
          <a:p>
            <a:pPr>
              <a:defRPr sz="1400" b="1">
                <a:solidFill>
                  <a:srgbClr val="1A365D"/>
                </a:solidFill>
              </a:defRPr>
            </a:pPr>
            <a:r>
              <a:t>Step 3: Exact Nominal Solution</a:t>
            </a:r>
          </a:p>
          <a:p>
            <a:pPr>
              <a:spcBef>
                <a:spcPts val="800"/>
              </a:spcBef>
              <a:defRPr sz="1100">
                <a:solidFill>
                  <a:srgbClr val="2D3748"/>
                </a:solidFill>
              </a:defRPr>
            </a:pPr>
            <a:r>
              <a:t>Parallel Req at Node A:</a:t>
            </a:r>
            <a:br/>
            <a:r>
              <a:t>Rp = R2 || (R3 + R4) = 2 || 4.5 = 18/13 kΩ</a:t>
            </a:r>
            <a:br/>
            <a:br/>
            <a:r>
              <a:t>Total Circuit Resistance:</a:t>
            </a:r>
            <a:br/>
            <a:r>
              <a:t>Rtotal = R1 + Rp = 31/13 kΩ ≈ 2.385 kΩ</a:t>
            </a:r>
            <a:br/>
            <a:br/>
            <a:r>
              <a:t>★ VA = 180/31 ≈ 5.806 V</a:t>
            </a:r>
            <a:br/>
            <a:r>
              <a:t>★ VB = 120/31 ≈ 3.871 V</a:t>
            </a:r>
            <a:br/>
            <a:r>
              <a:t>★ Is = 130/31 ≈ 4.194 mA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defRPr sz="1100" b="1">
                <a:solidFill>
                  <a:srgbClr val="3182CE"/>
                </a:solidFill>
              </a:defRPr>
            </a:pPr>
            <a:r>
              <a:t>B.TECH BEEE PROJECT</a:t>
            </a:r>
          </a:p>
          <a:p>
            <a:pPr>
              <a:defRPr sz="2400" b="1">
                <a:solidFill>
                  <a:srgbClr val="1A365D"/>
                </a:solidFill>
              </a:defRPr>
            </a:pPr>
            <a:r>
              <a:t>Comprehensive Catalog of 13 Operating Conditions</a:t>
            </a:r>
          </a:p>
        </p:txBody>
      </p:sp>
      <p:pic>
        <p:nvPicPr>
          <p:cNvPr id="3" name="Picture 2" descr="voltage_signatures_comparison.png"/>
          <p:cNvPicPr>
            <a:picLocks noChangeAspect="1"/>
          </p:cNvPicPr>
          <p:nvPr/>
        </p:nvPicPr>
        <p:blipFill>
          <a:blip r:embed="rId2"/>
          <a:stretch>
            <a:fillRect/>
          </a:stretch>
        </p:blipFill>
        <p:spPr>
          <a:xfrm>
            <a:off x="731520" y="1645920"/>
            <a:ext cx="10728655" cy="4868465"/>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defRPr sz="1100" b="1">
                <a:solidFill>
                  <a:srgbClr val="3182CE"/>
                </a:solidFill>
              </a:defRPr>
            </a:pPr>
            <a:r>
              <a:t>B.TECH BEEE PROJECT</a:t>
            </a:r>
          </a:p>
          <a:p>
            <a:pPr>
              <a:defRPr sz="2400" b="1">
                <a:solidFill>
                  <a:srgbClr val="1A365D"/>
                </a:solidFill>
              </a:defRPr>
            </a:pPr>
            <a:r>
              <a:t>Falstad Online Circuit Simulator Cross-Validation</a:t>
            </a:r>
          </a:p>
        </p:txBody>
      </p:sp>
      <p:sp>
        <p:nvSpPr>
          <p:cNvPr id="3" name="Rounded Rectangle 2"/>
          <p:cNvSpPr/>
          <p:nvPr/>
        </p:nvSpPr>
        <p:spPr>
          <a:xfrm>
            <a:off x="731520" y="1645920"/>
            <a:ext cx="5120640" cy="4389120"/>
          </a:xfrm>
          <a:prstGeom prst="roundRect">
            <a:avLst/>
          </a:prstGeom>
          <a:solidFill>
            <a:srgbClr val="EDF2F7"/>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4754880" cy="4023360"/>
          </a:xfrm>
          <a:prstGeom prst="rect">
            <a:avLst/>
          </a:prstGeom>
          <a:noFill/>
        </p:spPr>
        <p:txBody>
          <a:bodyPr wrap="square">
            <a:spAutoFit/>
          </a:bodyPr>
          <a:lstStyle/>
          <a:p>
            <a:pPr>
              <a:defRPr sz="1500" b="1">
                <a:solidFill>
                  <a:srgbClr val="1A365D"/>
                </a:solidFill>
              </a:defRPr>
            </a:pPr>
            <a:r>
              <a:t>Falstad SPICE Simulation Setup</a:t>
            </a:r>
          </a:p>
          <a:p>
            <a:pPr>
              <a:spcBef>
                <a:spcPts val="800"/>
              </a:spcBef>
              <a:defRPr sz="1100">
                <a:solidFill>
                  <a:srgbClr val="2D3748"/>
                </a:solidFill>
              </a:defRPr>
            </a:pPr>
            <a:r>
              <a:t>• Online Engine: Built using Falstad Circuit Simulator (www.falstad.com/circuit/).</a:t>
            </a:r>
          </a:p>
          <a:p>
            <a:pPr>
              <a:spcBef>
                <a:spcPts val="800"/>
              </a:spcBef>
              <a:defRPr sz="1100">
                <a:solidFill>
                  <a:srgbClr val="2D3748"/>
                </a:solidFill>
              </a:defRPr>
            </a:pPr>
            <a:r>
              <a:t>• Schematic Generation: Scripted ASCII circuit files (.txt) and 1-click web URLs automatically generated by 'src/falstad_export.py'.</a:t>
            </a:r>
          </a:p>
          <a:p>
            <a:pPr>
              <a:spcBef>
                <a:spcPts val="800"/>
              </a:spcBef>
              <a:defRPr sz="1100">
                <a:solidFill>
                  <a:srgbClr val="2D3748"/>
                </a:solidFill>
              </a:defRPr>
            </a:pPr>
            <a:r>
              <a:t>• Cross-Validation Log: Tested all 13 conditions; recorded readings in 'data/falstad_experiment_log.csv'.</a:t>
            </a:r>
          </a:p>
          <a:p>
            <a:pPr>
              <a:spcBef>
                <a:spcPts val="800"/>
              </a:spcBef>
              <a:defRPr sz="1100">
                <a:solidFill>
                  <a:srgbClr val="2D3748"/>
                </a:solidFill>
              </a:defRPr>
            </a:pPr>
            <a:r>
              <a:t>• Discrepancy Analysis: Discrepancy between Falstad SPICE and Python model is &lt;= 0.00045 V/mA (strictly due to 3-decimal display rounding).</a:t>
            </a:r>
          </a:p>
        </p:txBody>
      </p:sp>
      <p:sp>
        <p:nvSpPr>
          <p:cNvPr id="5" name="Rounded Rectangle 4"/>
          <p:cNvSpPr/>
          <p:nvPr/>
        </p:nvSpPr>
        <p:spPr>
          <a:xfrm>
            <a:off x="6217920" y="1645920"/>
            <a:ext cx="5212080" cy="4389120"/>
          </a:xfrm>
          <a:prstGeom prst="roundRect">
            <a:avLst/>
          </a:prstGeom>
          <a:solidFill>
            <a:srgbClr val="FFFFFF"/>
          </a:solidFill>
          <a:ln>
            <a:solidFill>
              <a:srgbClr val="3182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0" y="1828800"/>
            <a:ext cx="4846320" cy="4023360"/>
          </a:xfrm>
          <a:prstGeom prst="rect">
            <a:avLst/>
          </a:prstGeom>
          <a:noFill/>
        </p:spPr>
        <p:txBody>
          <a:bodyPr wrap="square">
            <a:spAutoFit/>
          </a:bodyPr>
          <a:lstStyle/>
          <a:p>
            <a:pPr>
              <a:defRPr sz="1500" b="1">
                <a:solidFill>
                  <a:srgbClr val="1A365D"/>
                </a:solidFill>
              </a:defRPr>
            </a:pPr>
            <a:r>
              <a:t>Representative Falstad Verification Log</a:t>
            </a:r>
          </a:p>
          <a:p>
            <a:pPr>
              <a:spcBef>
                <a:spcPts val="600"/>
              </a:spcBef>
              <a:defRPr sz="1000" b="1">
                <a:solidFill>
                  <a:srgbClr val="3182CE"/>
                </a:solidFill>
              </a:defRPr>
            </a:pPr>
            <a:r>
              <a:t>Scenario       VA       VB       Is         Diagnostic</a:t>
            </a:r>
          </a:p>
          <a:p>
            <a:pPr>
              <a:spcBef>
                <a:spcPts val="200"/>
              </a:spcBef>
              <a:defRPr sz="1000">
                <a:solidFill>
                  <a:srgbClr val="2D3748"/>
                </a:solidFill>
              </a:defRPr>
            </a:pPr>
            <a:r>
              <a:t>F0 (Normal)    5.806 V  3.871 V  4.194 mA   YES (Correct)</a:t>
            </a:r>
          </a:p>
          <a:p>
            <a:pPr>
              <a:spcBef>
                <a:spcPts val="200"/>
              </a:spcBef>
              <a:defRPr sz="1000">
                <a:solidFill>
                  <a:srgbClr val="2D3748"/>
                </a:solidFill>
              </a:defRPr>
            </a:pPr>
            <a:r>
              <a:t>F1 (R1 Open)   0.000 V  0.000 V  0.000 mA   YES (Correct)</a:t>
            </a:r>
          </a:p>
          <a:p>
            <a:pPr>
              <a:spcBef>
                <a:spcPts val="200"/>
              </a:spcBef>
              <a:defRPr sz="1000">
                <a:solidFill>
                  <a:srgbClr val="2D3748"/>
                </a:solidFill>
              </a:defRPr>
            </a:pPr>
            <a:r>
              <a:t>F2 (R2 Open)   8.182 V  5.455 V  1.818 mA   YES (Correct)</a:t>
            </a:r>
          </a:p>
          <a:p>
            <a:pPr>
              <a:spcBef>
                <a:spcPts val="200"/>
              </a:spcBef>
              <a:defRPr sz="1000">
                <a:solidFill>
                  <a:srgbClr val="2D3748"/>
                </a:solidFill>
              </a:defRPr>
            </a:pPr>
            <a:r>
              <a:t>F3 (R3 Open)   6.667 V  0.000 V  3.333 mA   YES (Correct)</a:t>
            </a:r>
          </a:p>
          <a:p>
            <a:pPr>
              <a:spcBef>
                <a:spcPts val="200"/>
              </a:spcBef>
              <a:defRPr sz="1000">
                <a:solidFill>
                  <a:srgbClr val="2D3748"/>
                </a:solidFill>
              </a:defRPr>
            </a:pPr>
            <a:r>
              <a:t>F5 (R1 Short)  10.000 V 6.667 V  7.222 mA   YES (Correct)</a:t>
            </a:r>
          </a:p>
          <a:p>
            <a:pPr>
              <a:spcBef>
                <a:spcPts val="200"/>
              </a:spcBef>
              <a:defRPr sz="1000">
                <a:solidFill>
                  <a:srgbClr val="2D3748"/>
                </a:solidFill>
              </a:defRPr>
            </a:pPr>
            <a:r>
              <a:t>F6 (R2 Short)  0.000 V  0.000 V  10.000 mA  YES (Correct)</a:t>
            </a:r>
          </a:p>
          <a:p>
            <a:pPr>
              <a:spcBef>
                <a:spcPts val="200"/>
              </a:spcBef>
              <a:defRPr sz="1000">
                <a:solidFill>
                  <a:srgbClr val="2D3748"/>
                </a:solidFill>
              </a:defRPr>
            </a:pPr>
            <a:r>
              <a:t>F7 (R3 Short)  5.455 V  5.455 V  4.545 mA   YES (Correct)</a:t>
            </a:r>
          </a:p>
          <a:p>
            <a:pPr>
              <a:spcBef>
                <a:spcPts val="200"/>
              </a:spcBef>
              <a:defRPr sz="1000">
                <a:solidFill>
                  <a:srgbClr val="2D3748"/>
                </a:solidFill>
              </a:defRPr>
            </a:pPr>
            <a:r>
              <a:t>F8 (R4 Short)  4.615 V  0.000 V  5.385 mA   YES (Correct)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defRPr sz="1100" b="1">
                <a:solidFill>
                  <a:srgbClr val="3182CE"/>
                </a:solidFill>
              </a:defRPr>
            </a:pPr>
            <a:r>
              <a:t>B.TECH BEEE PROJECT</a:t>
            </a:r>
          </a:p>
          <a:p>
            <a:pPr>
              <a:defRPr sz="2400" b="1">
                <a:solidFill>
                  <a:srgbClr val="1A365D"/>
                </a:solidFill>
              </a:defRPr>
            </a:pPr>
            <a:r>
              <a:t>Python Software Architecture &amp; Algorithms</a:t>
            </a:r>
          </a:p>
        </p:txBody>
      </p:sp>
      <p:sp>
        <p:nvSpPr>
          <p:cNvPr id="3" name="Rounded Rectangle 2"/>
          <p:cNvSpPr/>
          <p:nvPr/>
        </p:nvSpPr>
        <p:spPr>
          <a:xfrm>
            <a:off x="731520" y="1645920"/>
            <a:ext cx="5120640" cy="4389120"/>
          </a:xfrm>
          <a:prstGeom prst="roundRect">
            <a:avLst/>
          </a:prstGeom>
          <a:solidFill>
            <a:srgbClr val="EDF2F7"/>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4754880" cy="4023360"/>
          </a:xfrm>
          <a:prstGeom prst="rect">
            <a:avLst/>
          </a:prstGeom>
          <a:noFill/>
        </p:spPr>
        <p:txBody>
          <a:bodyPr wrap="square">
            <a:spAutoFit/>
          </a:bodyPr>
          <a:lstStyle/>
          <a:p>
            <a:pPr>
              <a:defRPr sz="1500" b="1">
                <a:solidFill>
                  <a:srgbClr val="1A365D"/>
                </a:solidFill>
              </a:defRPr>
            </a:pPr>
            <a:r>
              <a:t>Method A: Baseline Threshold Detector</a:t>
            </a:r>
          </a:p>
          <a:p>
            <a:pPr>
              <a:spcBef>
                <a:spcPts val="800"/>
              </a:spcBef>
              <a:defRPr sz="1100">
                <a:solidFill>
                  <a:srgbClr val="2D3748"/>
                </a:solidFill>
              </a:defRPr>
            </a:pPr>
            <a:r>
              <a:t>• Operating Principle: Hierarchical rule-based decision tree derived from Ohm's Law and nominal tolerances.</a:t>
            </a:r>
          </a:p>
          <a:p>
            <a:pPr>
              <a:spcBef>
                <a:spcPts val="800"/>
              </a:spcBef>
              <a:defRPr sz="1100">
                <a:solidFill>
                  <a:srgbClr val="2D3748"/>
                </a:solidFill>
              </a:defRPr>
            </a:pPr>
            <a:r>
              <a:t>• Boundary Rules: Checks hard physical cutoffs (e.g., Is &lt; 0.2 mA flags R1 Open; Is &gt; 8.5 mA flags R2 Short; VA &gt; 9.5 V flags R1 Short).</a:t>
            </a:r>
          </a:p>
          <a:p>
            <a:pPr>
              <a:spcBef>
                <a:spcPts val="800"/>
              </a:spcBef>
              <a:defRPr sz="1100">
                <a:solidFill>
                  <a:srgbClr val="2D3748"/>
                </a:solidFill>
              </a:defRPr>
            </a:pPr>
            <a:r>
              <a:t>• Equipotential Rules: If |VA - VB| &lt; 0.25 V, evaluates VA level to separate R4 Open from R3 Short.</a:t>
            </a:r>
          </a:p>
          <a:p>
            <a:pPr>
              <a:spcBef>
                <a:spcPts val="800"/>
              </a:spcBef>
              <a:defRPr sz="1100">
                <a:solidFill>
                  <a:srgbClr val="2D3748"/>
                </a:solidFill>
              </a:defRPr>
            </a:pPr>
            <a:r>
              <a:t>• Strengths &amp; Limits: Highly explainable; however, relies on manually configured voltage windows and lacks adaptive learning.</a:t>
            </a:r>
          </a:p>
        </p:txBody>
      </p:sp>
      <p:sp>
        <p:nvSpPr>
          <p:cNvPr id="5" name="Rounded Rectangle 4"/>
          <p:cNvSpPr/>
          <p:nvPr/>
        </p:nvSpPr>
        <p:spPr>
          <a:xfrm>
            <a:off x="6217920" y="1645920"/>
            <a:ext cx="5212080" cy="4389120"/>
          </a:xfrm>
          <a:prstGeom prst="roundRect">
            <a:avLst/>
          </a:prstGeom>
          <a:solidFill>
            <a:srgbClr val="EBF8FF"/>
          </a:solidFill>
          <a:ln>
            <a:solidFill>
              <a:srgbClr val="3182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0" y="1828800"/>
            <a:ext cx="4846320" cy="4023360"/>
          </a:xfrm>
          <a:prstGeom prst="rect">
            <a:avLst/>
          </a:prstGeom>
          <a:noFill/>
        </p:spPr>
        <p:txBody>
          <a:bodyPr wrap="square">
            <a:spAutoFit/>
          </a:bodyPr>
          <a:lstStyle/>
          <a:p>
            <a:pPr>
              <a:defRPr sz="1500" b="1">
                <a:solidFill>
                  <a:srgbClr val="1A365D"/>
                </a:solidFill>
              </a:defRPr>
            </a:pPr>
            <a:r>
              <a:t>Method B: Standardized Nearest Centroid</a:t>
            </a:r>
          </a:p>
          <a:p>
            <a:pPr>
              <a:spcBef>
                <a:spcPts val="800"/>
              </a:spcBef>
              <a:defRPr sz="1100">
                <a:solidFill>
                  <a:srgbClr val="2D3748"/>
                </a:solidFill>
              </a:defRPr>
            </a:pPr>
            <a:r>
              <a:t>✔ Feature Standardization: Normalizes VA, VB, and Is using training statistics only (Z = (X - μ) / σ). Prevents scale distortion between Volts and mA.</a:t>
            </a:r>
          </a:p>
          <a:p>
            <a:pPr>
              <a:spcBef>
                <a:spcPts val="800"/>
              </a:spcBef>
              <a:defRPr sz="1100">
                <a:solidFill>
                  <a:srgbClr val="2D3748"/>
                </a:solidFill>
              </a:defRPr>
            </a:pPr>
            <a:r>
              <a:t>✔ Centroid Learning: Computes empirical cluster centroids C_c = (1/N_c) * Σ Z_i for each operating class.</a:t>
            </a:r>
          </a:p>
          <a:p>
            <a:pPr>
              <a:spcBef>
                <a:spcPts val="800"/>
              </a:spcBef>
              <a:defRPr sz="1100">
                <a:solidFill>
                  <a:srgbClr val="2D3748"/>
                </a:solidFill>
              </a:defRPr>
            </a:pPr>
            <a:r>
              <a:t>✔ Distance Metric: Standardized Euclidean distance d_c = || z_query - C_c ||_2. Selects class with minimum distance.</a:t>
            </a:r>
          </a:p>
          <a:p>
            <a:pPr>
              <a:spcBef>
                <a:spcPts val="800"/>
              </a:spcBef>
              <a:defRPr sz="1100">
                <a:solidFill>
                  <a:srgbClr val="2D3748"/>
                </a:solidFill>
              </a:defRPr>
            </a:pPr>
            <a:r>
              <a:t>✔ Confidence Margin: Margin Δd = d_second - d_nearest. If Δd &lt; 0.35, the system displays a cautious uncertainty warning.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defRPr sz="1100" b="1">
                <a:solidFill>
                  <a:srgbClr val="3182CE"/>
                </a:solidFill>
              </a:defRPr>
            </a:pPr>
            <a:r>
              <a:t>B.TECH BEEE PROJECT</a:t>
            </a:r>
          </a:p>
          <a:p>
            <a:pPr>
              <a:defRPr sz="2400" b="1">
                <a:solidFill>
                  <a:srgbClr val="1A365D"/>
                </a:solidFill>
              </a:defRPr>
            </a:pPr>
            <a:r>
              <a:t>Meaning of 'Self-Learning': Supervised Incremental Adaptation</a:t>
            </a:r>
          </a:p>
        </p:txBody>
      </p:sp>
      <p:sp>
        <p:nvSpPr>
          <p:cNvPr id="3" name="Rounded Rectangle 2"/>
          <p:cNvSpPr/>
          <p:nvPr/>
        </p:nvSpPr>
        <p:spPr>
          <a:xfrm>
            <a:off x="731520" y="1645920"/>
            <a:ext cx="10728655" cy="4389120"/>
          </a:xfrm>
          <a:prstGeom prst="roundRect">
            <a:avLst/>
          </a:prstGeom>
          <a:solidFill>
            <a:srgbClr val="EDF2F7"/>
          </a:solidFill>
          <a:ln>
            <a:solidFill>
              <a:srgbClr val="3182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828800"/>
            <a:ext cx="10180015" cy="4023360"/>
          </a:xfrm>
          <a:prstGeom prst="rect">
            <a:avLst/>
          </a:prstGeom>
          <a:noFill/>
        </p:spPr>
        <p:txBody>
          <a:bodyPr wrap="square">
            <a:spAutoFit/>
          </a:bodyPr>
          <a:lstStyle/>
          <a:p>
            <a:pPr>
              <a:defRPr sz="1600" b="1">
                <a:solidFill>
                  <a:srgbClr val="1A365D"/>
                </a:solidFill>
              </a:defRPr>
            </a:pPr>
            <a:r>
              <a:t>How the Circuit Doctor Learns and Adapts Dynamically</a:t>
            </a:r>
          </a:p>
          <a:p>
            <a:pPr>
              <a:spcBef>
                <a:spcPts val="800"/>
              </a:spcBef>
              <a:defRPr sz="1200">
                <a:solidFill>
                  <a:srgbClr val="2D3748"/>
                </a:solidFill>
              </a:defRPr>
            </a:pPr>
            <a:r>
              <a:t>• Supervised Reference Learning: The baseline model learns the initial cluster centers from 1,560 labelled training samples across all 13 operating classes.</a:t>
            </a:r>
          </a:p>
          <a:p>
            <a:pPr>
              <a:spcBef>
                <a:spcPts val="800"/>
              </a:spcBef>
              <a:defRPr sz="1200">
                <a:solidFill>
                  <a:srgbClr val="2D3748"/>
                </a:solidFill>
              </a:defRPr>
            </a:pPr>
            <a:r>
              <a:t>• Incremental Online Update: When a laboratory technician inputs a newly confirmed hardware or simulation measurement, the model updates its reference centroid in O(1) time without retraining from scratch.</a:t>
            </a:r>
          </a:p>
          <a:p>
            <a:pPr>
              <a:spcBef>
                <a:spcPts val="800"/>
              </a:spcBef>
              <a:defRPr sz="1200">
                <a:solidFill>
                  <a:srgbClr val="2D3748"/>
                </a:solidFill>
              </a:defRPr>
            </a:pPr>
            <a:r>
              <a:t>• Mathematical Update Formulation:</a:t>
            </a:r>
            <a:br/>
            <a:r>
              <a:t>      N_new = N_old + 1</a:t>
            </a:r>
            <a:br/>
            <a:r>
              <a:t>      C_new = C_old + (1 / N_new) * (z_new - C_old)</a:t>
            </a:r>
          </a:p>
          <a:p>
            <a:pPr>
              <a:spcBef>
                <a:spcPts val="800"/>
              </a:spcBef>
              <a:defRPr sz="1200">
                <a:solidFill>
                  <a:srgbClr val="2D3748"/>
                </a:solidFill>
              </a:defRPr>
            </a:pPr>
            <a:r>
              <a:t>• Why This Matters Industrially: Resistors undergo thermal aging, ambient temperature fluctuations, and contact oxidation over months of operation. Incremental learning allows the diagnostic engine to track slow physical drift without catastrophic forgetting.</a:t>
            </a:r>
          </a:p>
          <a:p>
            <a:pPr>
              <a:spcBef>
                <a:spcPts val="800"/>
              </a:spcBef>
              <a:defRPr sz="1200">
                <a:solidFill>
                  <a:srgbClr val="2D3748"/>
                </a:solidFill>
              </a:defRPr>
            </a:pPr>
            <a:r>
              <a:t>• Honest Academic Boundary: We do NOT claim unsupervised discovery of unknown fault types; rather, this is rigorous, auditable supervised adaptation.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defRPr sz="1100" b="1">
                <a:solidFill>
                  <a:srgbClr val="3182CE"/>
                </a:solidFill>
              </a:defRPr>
            </a:pPr>
            <a:r>
              <a:t>B.TECH BEEE PROJECT</a:t>
            </a:r>
          </a:p>
          <a:p>
            <a:pPr>
              <a:defRPr sz="2400" b="1">
                <a:solidFill>
                  <a:srgbClr val="1A365D"/>
                </a:solidFill>
              </a:defRPr>
            </a:pPr>
            <a:r>
              <a:t>Experimental Setup &amp; Stochastic Dataset Generation</a:t>
            </a:r>
          </a:p>
        </p:txBody>
      </p:sp>
      <p:sp>
        <p:nvSpPr>
          <p:cNvPr id="3" name="Rounded Rectangle 2"/>
          <p:cNvSpPr/>
          <p:nvPr/>
        </p:nvSpPr>
        <p:spPr>
          <a:xfrm>
            <a:off x="731520" y="1645920"/>
            <a:ext cx="2560320" cy="4389120"/>
          </a:xfrm>
          <a:prstGeom prst="roundRect">
            <a:avLst/>
          </a:prstGeom>
          <a:solidFill>
            <a:srgbClr val="EDF2F7"/>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828800"/>
            <a:ext cx="2286000" cy="4023360"/>
          </a:xfrm>
          <a:prstGeom prst="rect">
            <a:avLst/>
          </a:prstGeom>
          <a:noFill/>
        </p:spPr>
        <p:txBody>
          <a:bodyPr wrap="square">
            <a:spAutoFit/>
          </a:bodyPr>
          <a:lstStyle/>
          <a:p>
            <a:pPr>
              <a:defRPr sz="1300" b="1">
                <a:solidFill>
                  <a:srgbClr val="1A365D"/>
                </a:solidFill>
              </a:defRPr>
            </a:pPr>
            <a:r>
              <a:t>Manufacturing Tolerances</a:t>
            </a:r>
          </a:p>
          <a:p>
            <a:pPr>
              <a:spcBef>
                <a:spcPts val="800"/>
              </a:spcBef>
              <a:defRPr sz="1100">
                <a:solidFill>
                  <a:srgbClr val="2D3748"/>
                </a:solidFill>
              </a:defRPr>
            </a:pPr>
            <a:r>
              <a:t>Standard 5% resistor tolerance modeled via 3-sigma truncated Gaussian distribution around nominal values.</a:t>
            </a:r>
          </a:p>
        </p:txBody>
      </p:sp>
      <p:sp>
        <p:nvSpPr>
          <p:cNvPr id="5" name="Rounded Rectangle 4"/>
          <p:cNvSpPr/>
          <p:nvPr/>
        </p:nvSpPr>
        <p:spPr>
          <a:xfrm>
            <a:off x="3429000" y="1645920"/>
            <a:ext cx="2560320" cy="4389120"/>
          </a:xfrm>
          <a:prstGeom prst="roundRect">
            <a:avLst/>
          </a:prstGeom>
          <a:solidFill>
            <a:srgbClr val="EDF2F7"/>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566160" y="1828800"/>
            <a:ext cx="2286000" cy="4023360"/>
          </a:xfrm>
          <a:prstGeom prst="rect">
            <a:avLst/>
          </a:prstGeom>
          <a:noFill/>
        </p:spPr>
        <p:txBody>
          <a:bodyPr wrap="square">
            <a:spAutoFit/>
          </a:bodyPr>
          <a:lstStyle/>
          <a:p>
            <a:pPr>
              <a:defRPr sz="1300" b="1">
                <a:solidFill>
                  <a:srgbClr val="1A365D"/>
                </a:solidFill>
              </a:defRPr>
            </a:pPr>
            <a:r>
              <a:t>Supply Voltage Drift</a:t>
            </a:r>
          </a:p>
          <a:p>
            <a:pPr>
              <a:spcBef>
                <a:spcPts val="800"/>
              </a:spcBef>
              <a:defRPr sz="1100">
                <a:solidFill>
                  <a:srgbClr val="2D3748"/>
                </a:solidFill>
              </a:defRPr>
            </a:pPr>
            <a:r>
              <a:t>DC supply fluctuations modeled as Gaussian noise around 10.0V (std = 0.05V, ~0.5% regulation error).</a:t>
            </a:r>
          </a:p>
        </p:txBody>
      </p:sp>
      <p:sp>
        <p:nvSpPr>
          <p:cNvPr id="7" name="Rounded Rectangle 6"/>
          <p:cNvSpPr/>
          <p:nvPr/>
        </p:nvSpPr>
        <p:spPr>
          <a:xfrm>
            <a:off x="6126480" y="1645920"/>
            <a:ext cx="2560320" cy="4389120"/>
          </a:xfrm>
          <a:prstGeom prst="roundRect">
            <a:avLst/>
          </a:prstGeom>
          <a:solidFill>
            <a:srgbClr val="EDF2F7"/>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63640" y="1828800"/>
            <a:ext cx="2286000" cy="4023360"/>
          </a:xfrm>
          <a:prstGeom prst="rect">
            <a:avLst/>
          </a:prstGeom>
          <a:noFill/>
        </p:spPr>
        <p:txBody>
          <a:bodyPr wrap="square">
            <a:spAutoFit/>
          </a:bodyPr>
          <a:lstStyle/>
          <a:p>
            <a:pPr>
              <a:defRPr sz="1300" b="1">
                <a:solidFill>
                  <a:srgbClr val="1A365D"/>
                </a:solidFill>
              </a:defRPr>
            </a:pPr>
            <a:r>
              <a:t>Sensor Measurement Noise</a:t>
            </a:r>
          </a:p>
          <a:p>
            <a:pPr>
              <a:spcBef>
                <a:spcPts val="800"/>
              </a:spcBef>
              <a:defRPr sz="1100">
                <a:solidFill>
                  <a:srgbClr val="2D3748"/>
                </a:solidFill>
              </a:defRPr>
            </a:pPr>
            <a:r>
              <a:t>Digital Multimeter (DMM) ADC quantization and thermal noise added to VA, VB, and Is (std = 0.02V / 0.02mA).</a:t>
            </a:r>
          </a:p>
        </p:txBody>
      </p:sp>
      <p:sp>
        <p:nvSpPr>
          <p:cNvPr id="9" name="Rounded Rectangle 8"/>
          <p:cNvSpPr/>
          <p:nvPr/>
        </p:nvSpPr>
        <p:spPr>
          <a:xfrm>
            <a:off x="8823960" y="1645920"/>
            <a:ext cx="2560320" cy="4389120"/>
          </a:xfrm>
          <a:prstGeom prst="roundRect">
            <a:avLst/>
          </a:prstGeom>
          <a:solidFill>
            <a:srgbClr val="EDF2F7"/>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0" y="1828800"/>
            <a:ext cx="2286000" cy="4023360"/>
          </a:xfrm>
          <a:prstGeom prst="rect">
            <a:avLst/>
          </a:prstGeom>
          <a:noFill/>
        </p:spPr>
        <p:txBody>
          <a:bodyPr wrap="square">
            <a:spAutoFit/>
          </a:bodyPr>
          <a:lstStyle/>
          <a:p>
            <a:pPr>
              <a:defRPr sz="1300" b="1">
                <a:solidFill>
                  <a:srgbClr val="1A365D"/>
                </a:solidFill>
              </a:defRPr>
            </a:pPr>
            <a:r>
              <a:t>Dataset Partitioning</a:t>
            </a:r>
          </a:p>
          <a:p>
            <a:pPr>
              <a:spcBef>
                <a:spcPts val="800"/>
              </a:spcBef>
              <a:defRPr sz="1100">
                <a:solidFill>
                  <a:srgbClr val="2D3748"/>
                </a:solidFill>
              </a:defRPr>
            </a:pPr>
            <a:r>
              <a:t>Balanced dataset of 1,950 total samples (150 per class). Stratified 80/20 train/test split: 1,560 train, 390 test.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defRPr sz="1100" b="1">
                <a:solidFill>
                  <a:srgbClr val="3182CE"/>
                </a:solidFill>
              </a:defRPr>
            </a:pPr>
            <a:r>
              <a:t>B.TECH BEEE PROJECT</a:t>
            </a:r>
          </a:p>
          <a:p>
            <a:pPr>
              <a:defRPr sz="2400" b="1">
                <a:solidFill>
                  <a:srgbClr val="1A365D"/>
                </a:solidFill>
              </a:defRPr>
            </a:pPr>
            <a:r>
              <a:t>Experimental Results &amp; Confusion Matrix</a:t>
            </a:r>
          </a:p>
        </p:txBody>
      </p:sp>
      <p:pic>
        <p:nvPicPr>
          <p:cNvPr id="3" name="Picture 2" descr="confusion_matrix_classifier.png"/>
          <p:cNvPicPr>
            <a:picLocks noChangeAspect="1"/>
          </p:cNvPicPr>
          <p:nvPr/>
        </p:nvPicPr>
        <p:blipFill>
          <a:blip r:embed="rId2"/>
          <a:stretch>
            <a:fillRect/>
          </a:stretch>
        </p:blipFill>
        <p:spPr>
          <a:xfrm>
            <a:off x="731520" y="1645920"/>
            <a:ext cx="5303520" cy="4832504"/>
          </a:xfrm>
          <a:prstGeom prst="rect">
            <a:avLst/>
          </a:prstGeom>
        </p:spPr>
      </p:pic>
      <p:sp>
        <p:nvSpPr>
          <p:cNvPr id="4" name="Rounded Rectangle 3"/>
          <p:cNvSpPr/>
          <p:nvPr/>
        </p:nvSpPr>
        <p:spPr>
          <a:xfrm>
            <a:off x="6309360" y="1645920"/>
            <a:ext cx="5120640" cy="4389120"/>
          </a:xfrm>
          <a:prstGeom prst="roundRect">
            <a:avLst/>
          </a:prstGeom>
          <a:solidFill>
            <a:srgbClr val="EDF2F7"/>
          </a:solidFill>
          <a:ln>
            <a:solidFill>
              <a:srgbClr val="3182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92240" y="1828800"/>
            <a:ext cx="4754880" cy="4023360"/>
          </a:xfrm>
          <a:prstGeom prst="rect">
            <a:avLst/>
          </a:prstGeom>
          <a:noFill/>
        </p:spPr>
        <p:txBody>
          <a:bodyPr wrap="square">
            <a:spAutoFit/>
          </a:bodyPr>
          <a:lstStyle/>
          <a:p>
            <a:pPr>
              <a:defRPr sz="1500" b="1">
                <a:solidFill>
                  <a:srgbClr val="1A365D"/>
                </a:solidFill>
              </a:defRPr>
            </a:pPr>
            <a:r>
              <a:t>Held-Out Test Performance (N=390)</a:t>
            </a:r>
          </a:p>
          <a:p>
            <a:pPr>
              <a:spcBef>
                <a:spcPts val="600"/>
              </a:spcBef>
              <a:defRPr sz="1100">
                <a:solidFill>
                  <a:srgbClr val="2D3748"/>
                </a:solidFill>
              </a:defRPr>
            </a:pPr>
            <a:r>
              <a:t>✔ Method B (Nearest Centroid) Accuracy: 100.00% (390 / 390 test samples correctly classified)</a:t>
            </a:r>
          </a:p>
          <a:p>
            <a:pPr>
              <a:spcBef>
                <a:spcPts val="600"/>
              </a:spcBef>
              <a:defRPr sz="1100">
                <a:solidFill>
                  <a:srgbClr val="2D3748"/>
                </a:solidFill>
              </a:defRPr>
            </a:pPr>
            <a:r>
              <a:t>✔ Method A (Baseline Rules) Accuracy: 100.00% on nominal tolerance test set</a:t>
            </a:r>
          </a:p>
          <a:p>
            <a:pPr>
              <a:spcBef>
                <a:spcPts val="600"/>
              </a:spcBef>
              <a:defRPr sz="1100">
                <a:solidFill>
                  <a:srgbClr val="2D3748"/>
                </a:solidFill>
              </a:defRPr>
            </a:pPr>
            <a:r>
              <a:t>✔ Per-Class Metrics across all 13 Classes: Precision = 1.0000 | Recall = 1.0000 | F1-Score = 1.0000</a:t>
            </a:r>
          </a:p>
          <a:p>
            <a:pPr>
              <a:spcBef>
                <a:spcPts val="600"/>
              </a:spcBef>
              <a:defRPr sz="1100">
                <a:solidFill>
                  <a:srgbClr val="2D3748"/>
                </a:solidFill>
              </a:defRPr>
            </a:pPr>
            <a:r>
              <a:t>✔ Confusion Matrix: Perfect diagonal structure; zero cross-class confusion between catastrophic and drift faults.</a:t>
            </a:r>
          </a:p>
          <a:p>
            <a:pPr>
              <a:spcBef>
                <a:spcPts val="600"/>
              </a:spcBef>
              <a:defRPr sz="1100">
                <a:solidFill>
                  <a:srgbClr val="2D3748"/>
                </a:solidFill>
              </a:defRPr>
            </a:pPr>
            <a:r>
              <a:t>✔ Zero Data Leakage: All metrics calculated strictly on the held-out test split using saved code in 'src/evaluation.py'.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defRPr sz="1100" b="1">
                <a:solidFill>
                  <a:srgbClr val="3182CE"/>
                </a:solidFill>
              </a:defRPr>
            </a:pPr>
            <a:r>
              <a:t>B.TECH BEEE PROJECT</a:t>
            </a:r>
          </a:p>
          <a:p>
            <a:pPr>
              <a:defRPr sz="2400" b="1">
                <a:solidFill>
                  <a:srgbClr val="1A365D"/>
                </a:solidFill>
              </a:defRPr>
            </a:pPr>
            <a:r>
              <a:t>Robustness: Noise &amp; Component Tolerance Sensitivity</a:t>
            </a:r>
          </a:p>
        </p:txBody>
      </p:sp>
      <p:pic>
        <p:nvPicPr>
          <p:cNvPr id="3" name="Picture 2" descr="noise_sensitivity_curve.png"/>
          <p:cNvPicPr>
            <a:picLocks noChangeAspect="1"/>
          </p:cNvPicPr>
          <p:nvPr/>
        </p:nvPicPr>
        <p:blipFill>
          <a:blip r:embed="rId2"/>
          <a:stretch>
            <a:fillRect/>
          </a:stretch>
        </p:blipFill>
        <p:spPr>
          <a:xfrm>
            <a:off x="731520" y="1645920"/>
            <a:ext cx="5212080" cy="3232809"/>
          </a:xfrm>
          <a:prstGeom prst="rect">
            <a:avLst/>
          </a:prstGeom>
        </p:spPr>
      </p:pic>
      <p:pic>
        <p:nvPicPr>
          <p:cNvPr id="4" name="Picture 3" descr="tolerance_sensitivity_curve.png"/>
          <p:cNvPicPr>
            <a:picLocks noChangeAspect="1"/>
          </p:cNvPicPr>
          <p:nvPr/>
        </p:nvPicPr>
        <p:blipFill>
          <a:blip r:embed="rId3"/>
          <a:stretch>
            <a:fillRect/>
          </a:stretch>
        </p:blipFill>
        <p:spPr>
          <a:xfrm>
            <a:off x="6217920" y="1645920"/>
            <a:ext cx="5212080" cy="3232809"/>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defRPr sz="1100" b="1">
                <a:solidFill>
                  <a:srgbClr val="3182CE"/>
                </a:solidFill>
              </a:defRPr>
            </a:pPr>
            <a:r>
              <a:t>B.TECH BEEE PROJECT</a:t>
            </a:r>
          </a:p>
          <a:p>
            <a:pPr>
              <a:defRPr sz="2400" b="1">
                <a:solidFill>
                  <a:srgbClr val="1A365D"/>
                </a:solidFill>
              </a:defRPr>
            </a:pPr>
            <a:r>
              <a:t>Interactive User Interface &amp; Demonstration</a:t>
            </a:r>
          </a:p>
        </p:txBody>
      </p:sp>
      <p:sp>
        <p:nvSpPr>
          <p:cNvPr id="3" name="Rounded Rectangle 2"/>
          <p:cNvSpPr/>
          <p:nvPr/>
        </p:nvSpPr>
        <p:spPr>
          <a:xfrm>
            <a:off x="731520" y="1645920"/>
            <a:ext cx="5120640" cy="4389120"/>
          </a:xfrm>
          <a:prstGeom prst="roundRect">
            <a:avLst/>
          </a:prstGeom>
          <a:solidFill>
            <a:srgbClr val="EDF2F7"/>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4754880" cy="4023360"/>
          </a:xfrm>
          <a:prstGeom prst="rect">
            <a:avLst/>
          </a:prstGeom>
          <a:noFill/>
        </p:spPr>
        <p:txBody>
          <a:bodyPr wrap="square">
            <a:spAutoFit/>
          </a:bodyPr>
          <a:lstStyle/>
          <a:p>
            <a:pPr>
              <a:defRPr sz="1500" b="1">
                <a:solidFill>
                  <a:srgbClr val="1A365D"/>
                </a:solidFill>
              </a:defRPr>
            </a:pPr>
            <a:r>
              <a:t>Dual-Interface Software Architecture</a:t>
            </a:r>
          </a:p>
          <a:p>
            <a:pPr>
              <a:spcBef>
                <a:spcPts val="800"/>
              </a:spcBef>
              <a:defRPr sz="1100">
                <a:solidFill>
                  <a:srgbClr val="2D3748"/>
                </a:solidFill>
              </a:defRPr>
            </a:pPr>
            <a:r>
              <a:t>• Streamlit Web Dashboard (app.py): Modern browser interface featuring interactive telemetry, confusion matrix displays, and CSV exports.</a:t>
            </a:r>
          </a:p>
          <a:p>
            <a:pPr>
              <a:spcBef>
                <a:spcPts val="800"/>
              </a:spcBef>
              <a:defRPr sz="1100">
                <a:solidFill>
                  <a:srgbClr val="2D3748"/>
                </a:solidFill>
              </a:defRPr>
            </a:pPr>
            <a:r>
              <a:t>• Tkinter Desktop GUI (gui_tk.py): 100% offline desktop interface that runs instantly on standard Python without requiring any web packages or internet.</a:t>
            </a:r>
          </a:p>
          <a:p>
            <a:pPr>
              <a:spcBef>
                <a:spcPts val="800"/>
              </a:spcBef>
              <a:defRPr sz="1100">
                <a:solidFill>
                  <a:srgbClr val="2D3748"/>
                </a:solidFill>
              </a:defRPr>
            </a:pPr>
            <a:r>
              <a:t>• Connected to Live Engine: Every button and slider directly invokes the mathematical model and trained classifier—zero static or hardcoded outputs.</a:t>
            </a:r>
          </a:p>
        </p:txBody>
      </p:sp>
      <p:sp>
        <p:nvSpPr>
          <p:cNvPr id="5" name="Rounded Rectangle 4"/>
          <p:cNvSpPr/>
          <p:nvPr/>
        </p:nvSpPr>
        <p:spPr>
          <a:xfrm>
            <a:off x="6217920" y="1645920"/>
            <a:ext cx="5212080" cy="4389120"/>
          </a:xfrm>
          <a:prstGeom prst="roundRect">
            <a:avLst/>
          </a:prstGeom>
          <a:solidFill>
            <a:srgbClr val="FFFFFF"/>
          </a:solidFill>
          <a:ln>
            <a:solidFill>
              <a:srgbClr val="3182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0" y="1828800"/>
            <a:ext cx="4846320" cy="4023360"/>
          </a:xfrm>
          <a:prstGeom prst="rect">
            <a:avLst/>
          </a:prstGeom>
          <a:noFill/>
        </p:spPr>
        <p:txBody>
          <a:bodyPr wrap="square">
            <a:spAutoFit/>
          </a:bodyPr>
          <a:lstStyle/>
          <a:p>
            <a:pPr>
              <a:defRPr sz="1500" b="1">
                <a:solidFill>
                  <a:srgbClr val="1A365D"/>
                </a:solidFill>
              </a:defRPr>
            </a:pPr>
            <a:r>
              <a:t>Key Interactive Capabilities</a:t>
            </a:r>
          </a:p>
          <a:p>
            <a:pPr>
              <a:spcBef>
                <a:spcPts val="600"/>
              </a:spcBef>
              <a:defRPr sz="1100">
                <a:solidFill>
                  <a:srgbClr val="2D3748"/>
                </a:solidFill>
              </a:defRPr>
            </a:pPr>
            <a:r>
              <a:t>✔ 1. Preset Fault Injection: Select any of the 13 operating classes and simulate random sensor noise dynamically.</a:t>
            </a:r>
          </a:p>
          <a:p>
            <a:pPr>
              <a:spcBef>
                <a:spcPts val="600"/>
              </a:spcBef>
              <a:defRPr sz="1100">
                <a:solidFill>
                  <a:srgbClr val="2D3748"/>
                </a:solidFill>
              </a:defRPr>
            </a:pPr>
            <a:r>
              <a:t>✔ 2. Manual Multimeter Mode: Enter custom laboratory readings for VA, VB, and Is to test external physical circuits.</a:t>
            </a:r>
          </a:p>
          <a:p>
            <a:pPr>
              <a:spcBef>
                <a:spcPts val="600"/>
              </a:spcBef>
              <a:defRPr sz="1100">
                <a:solidFill>
                  <a:srgbClr val="2D3748"/>
                </a:solidFill>
              </a:defRPr>
            </a:pPr>
            <a:r>
              <a:t>✔ 3. Real-Time Telemetry: Displays predicted fault, nearest centroid distance, runner-up separation margin, and uncertainty warnings.</a:t>
            </a:r>
          </a:p>
          <a:p>
            <a:pPr>
              <a:spcBef>
                <a:spcPts val="600"/>
              </a:spcBef>
              <a:defRPr sz="1100">
                <a:solidFill>
                  <a:srgbClr val="2D3748"/>
                </a:solidFill>
              </a:defRPr>
            </a:pPr>
            <a:r>
              <a:t>✔ 4. Visual Signature Comparison: Dynamic bar charts compare the input vector against the nominal reference pattern.</a:t>
            </a:r>
          </a:p>
          <a:p>
            <a:pPr>
              <a:spcBef>
                <a:spcPts val="600"/>
              </a:spcBef>
              <a:defRPr sz="1100">
                <a:solidFill>
                  <a:srgbClr val="2D3748"/>
                </a:solidFill>
              </a:defRPr>
            </a:pPr>
            <a:r>
              <a:t>✔ 5. Online Learning Tab: Ingests new verified lab points and updates the model live on screen.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defRPr sz="1100" b="1">
                <a:solidFill>
                  <a:srgbClr val="3182CE"/>
                </a:solidFill>
              </a:defRPr>
            </a:pPr>
            <a:r>
              <a:t>B.TECH BEEE PROJECT</a:t>
            </a:r>
          </a:p>
          <a:p>
            <a:pPr>
              <a:defRPr sz="2400" b="1">
                <a:solidFill>
                  <a:srgbClr val="1A365D"/>
                </a:solidFill>
              </a:defRPr>
            </a:pPr>
            <a:r>
              <a:t>Engineering Limitations &amp; Future Enhancements</a:t>
            </a:r>
          </a:p>
        </p:txBody>
      </p:sp>
      <p:sp>
        <p:nvSpPr>
          <p:cNvPr id="3" name="Rounded Rectangle 2"/>
          <p:cNvSpPr/>
          <p:nvPr/>
        </p:nvSpPr>
        <p:spPr>
          <a:xfrm>
            <a:off x="731520" y="1645920"/>
            <a:ext cx="5120640" cy="4389120"/>
          </a:xfrm>
          <a:prstGeom prst="roundRect">
            <a:avLst/>
          </a:prstGeom>
          <a:solidFill>
            <a:srgbClr val="EDF2F7"/>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4754880" cy="4023360"/>
          </a:xfrm>
          <a:prstGeom prst="rect">
            <a:avLst/>
          </a:prstGeom>
          <a:noFill/>
        </p:spPr>
        <p:txBody>
          <a:bodyPr wrap="square">
            <a:spAutoFit/>
          </a:bodyPr>
          <a:lstStyle/>
          <a:p>
            <a:pPr>
              <a:defRPr sz="1500" b="1">
                <a:solidFill>
                  <a:srgbClr val="1A365D"/>
                </a:solidFill>
              </a:defRPr>
            </a:pPr>
            <a:r>
              <a:t>Current Project Limitations</a:t>
            </a:r>
          </a:p>
          <a:p>
            <a:pPr>
              <a:spcBef>
                <a:spcPts val="800"/>
              </a:spcBef>
              <a:defRPr sz="1100">
                <a:solidFill>
                  <a:srgbClr val="2D3748"/>
                </a:solidFill>
              </a:defRPr>
            </a:pPr>
            <a:r>
              <a:t>• DC Steady-State Only: Current implementation analyzes purely resistive networks; dynamic reactive effects (capacitors and inductors) are not modeled.</a:t>
            </a:r>
          </a:p>
          <a:p>
            <a:pPr>
              <a:spcBef>
                <a:spcPts val="800"/>
              </a:spcBef>
              <a:defRPr sz="1100">
                <a:solidFill>
                  <a:srgbClr val="2D3748"/>
                </a:solidFill>
              </a:defRPr>
            </a:pPr>
            <a:r>
              <a:t>• Single-Fault Assumption: Evaluates single-component failure scenarios; simultaneous multi-component catastrophic faults may require higher dimensional sensing.</a:t>
            </a:r>
          </a:p>
          <a:p>
            <a:pPr>
              <a:spcBef>
                <a:spcPts val="800"/>
              </a:spcBef>
              <a:defRPr sz="1100">
                <a:solidFill>
                  <a:srgbClr val="2D3748"/>
                </a:solidFill>
              </a:defRPr>
            </a:pPr>
            <a:r>
              <a:t>• Simulated Sensor Inputs: Testing performed via Falstad SPICE and stochastic Python models rather than soldered hardware breadboards.</a:t>
            </a:r>
          </a:p>
        </p:txBody>
      </p:sp>
      <p:sp>
        <p:nvSpPr>
          <p:cNvPr id="5" name="Rounded Rectangle 4"/>
          <p:cNvSpPr/>
          <p:nvPr/>
        </p:nvSpPr>
        <p:spPr>
          <a:xfrm>
            <a:off x="6217920" y="1645920"/>
            <a:ext cx="5212080" cy="4389120"/>
          </a:xfrm>
          <a:prstGeom prst="roundRect">
            <a:avLst/>
          </a:prstGeom>
          <a:solidFill>
            <a:srgbClr val="EBF8FF"/>
          </a:solidFill>
          <a:ln>
            <a:solidFill>
              <a:srgbClr val="3182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0" y="1828800"/>
            <a:ext cx="4846320" cy="4023360"/>
          </a:xfrm>
          <a:prstGeom prst="rect">
            <a:avLst/>
          </a:prstGeom>
          <a:noFill/>
        </p:spPr>
        <p:txBody>
          <a:bodyPr wrap="square">
            <a:spAutoFit/>
          </a:bodyPr>
          <a:lstStyle/>
          <a:p>
            <a:pPr>
              <a:defRPr sz="1500" b="1">
                <a:solidFill>
                  <a:srgbClr val="1A365D"/>
                </a:solidFill>
              </a:defRPr>
            </a:pPr>
            <a:r>
              <a:t>Future Research &amp; Engineering Scope</a:t>
            </a:r>
          </a:p>
          <a:p>
            <a:pPr>
              <a:spcBef>
                <a:spcPts val="800"/>
              </a:spcBef>
              <a:defRPr sz="1100">
                <a:solidFill>
                  <a:srgbClr val="2D3748"/>
                </a:solidFill>
              </a:defRPr>
            </a:pPr>
            <a:r>
              <a:t>🚀 AC Impedance Extension: Expand signature vectors to include magnitude and phase [|V|, θ, |I|] to diagnose RLC networks under AC sinusoidal excitation.</a:t>
            </a:r>
          </a:p>
          <a:p>
            <a:pPr>
              <a:spcBef>
                <a:spcPts val="800"/>
              </a:spcBef>
              <a:defRPr sz="1100">
                <a:solidFill>
                  <a:srgbClr val="2D3748"/>
                </a:solidFill>
              </a:defRPr>
            </a:pPr>
            <a:r>
              <a:t>🚀 IoT Hardware Integration: Connect an ESP32 or Arduino microcontroller with ADS1115 16-bit ADCs to transmit real-time breadboard voltages over Wi-Fi.</a:t>
            </a:r>
          </a:p>
          <a:p>
            <a:pPr>
              <a:spcBef>
                <a:spcPts val="800"/>
              </a:spcBef>
              <a:defRPr sz="1100">
                <a:solidFill>
                  <a:srgbClr val="2D3748"/>
                </a:solidFill>
              </a:defRPr>
            </a:pPr>
            <a:r>
              <a:t>🚀 Automated Self-Healing: Integrate MOSFET relay switches to automatically isolate faulty branches and switch in redundant backup resistors.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defRPr sz="1100" b="1">
                <a:solidFill>
                  <a:srgbClr val="3182CE"/>
                </a:solidFill>
              </a:defRPr>
            </a:pPr>
            <a:r>
              <a:t>B.TECH BEEE PROJECT</a:t>
            </a:r>
          </a:p>
          <a:p>
            <a:pPr>
              <a:defRPr sz="2400" b="1">
                <a:solidFill>
                  <a:srgbClr val="1A365D"/>
                </a:solidFill>
              </a:defRPr>
            </a:pPr>
            <a:r>
              <a:t>Conclusion, References &amp; Open Questions</a:t>
            </a:r>
          </a:p>
        </p:txBody>
      </p:sp>
      <p:sp>
        <p:nvSpPr>
          <p:cNvPr id="3" name="Rounded Rectangle 2"/>
          <p:cNvSpPr/>
          <p:nvPr/>
        </p:nvSpPr>
        <p:spPr>
          <a:xfrm>
            <a:off x="731520" y="1645920"/>
            <a:ext cx="10728655" cy="4389120"/>
          </a:xfrm>
          <a:prstGeom prst="roundRect">
            <a:avLst/>
          </a:prstGeom>
          <a:solidFill>
            <a:srgbClr val="EDF2F7"/>
          </a:solidFill>
          <a:ln>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828800"/>
            <a:ext cx="10180015" cy="4023360"/>
          </a:xfrm>
          <a:prstGeom prst="rect">
            <a:avLst/>
          </a:prstGeom>
          <a:noFill/>
        </p:spPr>
        <p:txBody>
          <a:bodyPr wrap="square">
            <a:spAutoFit/>
          </a:bodyPr>
          <a:lstStyle/>
          <a:p>
            <a:pPr>
              <a:defRPr sz="1600" b="1">
                <a:solidFill>
                  <a:srgbClr val="1A365D"/>
                </a:solidFill>
              </a:defRPr>
            </a:pPr>
            <a:r>
              <a:t>Summary of Project Contributions</a:t>
            </a:r>
          </a:p>
          <a:p>
            <a:pPr>
              <a:spcBef>
                <a:spcPts val="600"/>
              </a:spcBef>
              <a:defRPr sz="1100">
                <a:solidFill>
                  <a:srgbClr val="2D3748"/>
                </a:solidFill>
              </a:defRPr>
            </a:pPr>
            <a:r>
              <a:t>• Rigorous BEEE Integration: Demonstrated that Kirchhoff's Current Law and Nodal Analysis directly power real-world automated diagnostic systems.</a:t>
            </a:r>
          </a:p>
          <a:p>
            <a:pPr>
              <a:spcBef>
                <a:spcPts val="600"/>
              </a:spcBef>
              <a:defRPr sz="1100">
                <a:solidFill>
                  <a:srgbClr val="2D3748"/>
                </a:solidFill>
              </a:defRPr>
            </a:pPr>
            <a:r>
              <a:t>• Unambiguous Fault Separation: Proved that a 3-signal signature [VA, VB, Is] cleanly isolates 13 circuit conditions, resolving ambiguities like R1 Open vs R2 Short.</a:t>
            </a:r>
          </a:p>
          <a:p>
            <a:pPr>
              <a:spcBef>
                <a:spcPts val="600"/>
              </a:spcBef>
              <a:defRPr sz="1100">
                <a:solidFill>
                  <a:srgbClr val="2D3748"/>
                </a:solidFill>
              </a:defRPr>
            </a:pPr>
            <a:r>
              <a:t>• High Performance: Standardized Nearest Centroid Classifier achieved 100% test accuracy with robust noise immunity and confidence margin tracking.</a:t>
            </a:r>
          </a:p>
          <a:p>
            <a:pPr>
              <a:spcBef>
                <a:spcPts val="600"/>
              </a:spcBef>
              <a:defRPr sz="1100">
                <a:solidFill>
                  <a:srgbClr val="2D3748"/>
                </a:solidFill>
              </a:defRPr>
            </a:pPr>
            <a:r>
              <a:t>• Academic &amp; Industrial References:</a:t>
            </a:r>
            <a:br/>
            <a:r>
              <a:t>  1. Alexander, C. K., &amp; Sadiku, M. N. (2020). Fundamentals of Electric Circuits (7th ed.). McGraw-Hill.</a:t>
            </a:r>
            <a:br/>
            <a:r>
              <a:t>  2. Boylestad, R. L. (2016). Introductory Circuit Analysis (13th ed.). Pearson Education.</a:t>
            </a:r>
            <a:br/>
            <a:r>
              <a:t>  3. Haykin, S. (2009). Neural Networks and Learning Machines (3rd ed.). Pearson.</a:t>
            </a:r>
            <a:br/>
            <a:r>
              <a:t>  4. Falstad, P. (2023). Circuit Simulator Applet. Available at: https://www.falstad.com/circuit/</a:t>
            </a:r>
            <a:br/>
            <a:r>
              <a:t>  5. Pedregosa, F., et al. (2011). Scikit-learn: Machine Learning in Python. JMLR, 12, 2825-2830.</a:t>
            </a:r>
          </a:p>
          <a:p>
            <a:br/>
            <a:pPr algn="ctr">
              <a:defRPr sz="1300" b="1">
                <a:solidFill>
                  <a:srgbClr val="3182CE"/>
                </a:solidFill>
              </a:defRPr>
            </a:pPr>
            <a:r>
              <a:t>Thank you for your time! We now invite questions from the evaluation panel.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